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League Spartan" panose="020B0604020202020204" charset="0"/>
      <p:regular r:id="rId12"/>
      <p:bold r:id="rId13"/>
    </p:embeddedFont>
    <p:embeddedFont>
      <p:font typeface="Montserrat" panose="00000500000000000000" pitchFamily="2" charset="0"/>
      <p:regular r:id="rId14"/>
      <p:bold r:id="rId15"/>
    </p:embeddedFont>
    <p:embeddedFont>
      <p:font typeface="Montserrat Bold" panose="00000800000000000000" charset="0"/>
      <p:regular r:id="rId16"/>
      <p:bold r:id="rId17"/>
    </p:embeddedFont>
    <p:embeddedFont>
      <p:font typeface="TT Interphases Mon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3DAD7C-EC2B-456E-AD8D-A688FD8B218C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FC"/>
    <a:srgbClr val="BCCFE6"/>
    <a:srgbClr val="A6B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48" autoAdjust="0"/>
  </p:normalViewPr>
  <p:slideViewPr>
    <p:cSldViewPr>
      <p:cViewPr varScale="1">
        <p:scale>
          <a:sx n="49" d="100"/>
          <a:sy n="49" d="100"/>
        </p:scale>
        <p:origin x="1008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E6123-BA28-4E88-B10C-CBFA82CEA5EB}" type="doc">
      <dgm:prSet loTypeId="urn:microsoft.com/office/officeart/2005/8/layout/hProcess7" loCatId="process" qsTypeId="urn:microsoft.com/office/officeart/2005/8/quickstyle/3d2" qsCatId="3D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8EDC59F5-21D5-4B2C-AA77-DE08295F3539}">
      <dgm:prSet phldrT="[Text]" phldr="0"/>
      <dgm:spPr/>
      <dgm:t>
        <a:bodyPr/>
        <a:lstStyle/>
        <a:p>
          <a:endParaRPr lang="en-IN" dirty="0">
            <a:solidFill>
              <a:schemeClr val="tx1"/>
            </a:solidFill>
          </a:endParaRPr>
        </a:p>
      </dgm:t>
    </dgm:pt>
    <dgm:pt modelId="{56BDD8DB-96BB-4C66-836A-CFCDB3F76189}" type="parTrans" cxnId="{4EB8F417-2037-4CAA-805F-A14D09719251}">
      <dgm:prSet/>
      <dgm:spPr/>
      <dgm:t>
        <a:bodyPr/>
        <a:lstStyle/>
        <a:p>
          <a:endParaRPr lang="en-IN"/>
        </a:p>
      </dgm:t>
    </dgm:pt>
    <dgm:pt modelId="{E0AB362E-E110-4ED2-BBAF-665D761D59D9}" type="sibTrans" cxnId="{4EB8F417-2037-4CAA-805F-A14D09719251}">
      <dgm:prSet/>
      <dgm:spPr/>
      <dgm:t>
        <a:bodyPr/>
        <a:lstStyle/>
        <a:p>
          <a:endParaRPr lang="en-IN"/>
        </a:p>
      </dgm:t>
    </dgm:pt>
    <dgm:pt modelId="{CBF6087F-AA29-4E9F-9288-5C5CB7150935}">
      <dgm:prSet phldrT="[Text]" phldr="0" custT="1"/>
      <dgm:spPr/>
      <dgm:t>
        <a:bodyPr/>
        <a:lstStyle/>
        <a:p>
          <a:r>
            <a:rPr lang="en-IN" sz="2400" b="1"/>
            <a:t>Revenue Model</a:t>
          </a:r>
          <a:endParaRPr lang="en-IN" sz="2400" b="1" dirty="0"/>
        </a:p>
      </dgm:t>
    </dgm:pt>
    <dgm:pt modelId="{AB06FAF0-E58D-4768-AB5D-11CD8E64E2E9}" type="parTrans" cxnId="{BF533C20-612C-4F79-8FC2-4D4B25F5FD7C}">
      <dgm:prSet/>
      <dgm:spPr/>
      <dgm:t>
        <a:bodyPr/>
        <a:lstStyle/>
        <a:p>
          <a:endParaRPr lang="en-IN"/>
        </a:p>
      </dgm:t>
    </dgm:pt>
    <dgm:pt modelId="{79817F90-7200-47F4-A0AF-2FED786EB7B5}" type="sibTrans" cxnId="{BF533C20-612C-4F79-8FC2-4D4B25F5FD7C}">
      <dgm:prSet/>
      <dgm:spPr/>
      <dgm:t>
        <a:bodyPr/>
        <a:lstStyle/>
        <a:p>
          <a:endParaRPr lang="en-IN"/>
        </a:p>
      </dgm:t>
    </dgm:pt>
    <dgm:pt modelId="{E5436F11-0E8F-45F2-9893-A2768DE68337}">
      <dgm:prSet phldrT="[Text]" phldr="0"/>
      <dgm:spPr>
        <a:solidFill>
          <a:schemeClr val="tx2"/>
        </a:solidFill>
      </dgm:spPr>
      <dgm:t>
        <a:bodyPr/>
        <a:lstStyle/>
        <a:p>
          <a:endParaRPr lang="en-IN" dirty="0">
            <a:solidFill>
              <a:schemeClr val="tx1"/>
            </a:solidFill>
          </a:endParaRPr>
        </a:p>
      </dgm:t>
    </dgm:pt>
    <dgm:pt modelId="{7D697627-A87B-47A8-AE83-F6FC92F444CF}" type="parTrans" cxnId="{FCBB8996-985F-4E0D-811F-09C26DACC7FD}">
      <dgm:prSet/>
      <dgm:spPr/>
      <dgm:t>
        <a:bodyPr/>
        <a:lstStyle/>
        <a:p>
          <a:endParaRPr lang="en-IN"/>
        </a:p>
      </dgm:t>
    </dgm:pt>
    <dgm:pt modelId="{823B452D-F2E7-49B6-A1D7-562A4A7BCAE5}" type="sibTrans" cxnId="{FCBB8996-985F-4E0D-811F-09C26DACC7FD}">
      <dgm:prSet/>
      <dgm:spPr/>
      <dgm:t>
        <a:bodyPr/>
        <a:lstStyle/>
        <a:p>
          <a:endParaRPr lang="en-IN"/>
        </a:p>
      </dgm:t>
    </dgm:pt>
    <dgm:pt modelId="{F5BA8C82-AD42-491E-B23C-B9203CE37435}">
      <dgm:prSet phldrT="[Text]" custT="1"/>
      <dgm:spPr/>
      <dgm:t>
        <a:bodyPr/>
        <a:lstStyle/>
        <a:p>
          <a:r>
            <a:rPr lang="en-IN" sz="2400" b="1"/>
            <a:t>Target Customers</a:t>
          </a:r>
          <a:endParaRPr lang="en-IN" sz="2400" b="1" dirty="0"/>
        </a:p>
      </dgm:t>
    </dgm:pt>
    <dgm:pt modelId="{456CB5AB-2F1C-40C4-B91F-0BC60B4A67EF}" type="parTrans" cxnId="{DEC94E5C-282A-4B6F-A931-D57F93A7C8BC}">
      <dgm:prSet/>
      <dgm:spPr/>
      <dgm:t>
        <a:bodyPr/>
        <a:lstStyle/>
        <a:p>
          <a:endParaRPr lang="en-IN"/>
        </a:p>
      </dgm:t>
    </dgm:pt>
    <dgm:pt modelId="{BCD521D3-9A5C-4EC7-A6B2-39EAC870CA8C}" type="sibTrans" cxnId="{DEC94E5C-282A-4B6F-A931-D57F93A7C8BC}">
      <dgm:prSet/>
      <dgm:spPr/>
      <dgm:t>
        <a:bodyPr/>
        <a:lstStyle/>
        <a:p>
          <a:endParaRPr lang="en-IN"/>
        </a:p>
      </dgm:t>
    </dgm:pt>
    <dgm:pt modelId="{8D3E94F8-2DFC-46D5-93EB-07F14814279C}">
      <dgm:prSet custT="1"/>
      <dgm:spPr/>
      <dgm:t>
        <a:bodyPr/>
        <a:lstStyle/>
        <a:p>
          <a:r>
            <a:rPr lang="en-US" sz="1600"/>
            <a:t> </a:t>
          </a:r>
          <a:r>
            <a:rPr lang="en-IN" sz="2000"/>
            <a:t>Subscription based on usage (EPS)</a:t>
          </a:r>
          <a:endParaRPr lang="en-IN" sz="2000" dirty="0"/>
        </a:p>
      </dgm:t>
    </dgm:pt>
    <dgm:pt modelId="{9FA5317B-79D1-454B-B1BF-FC85EA94A8AB}" type="parTrans" cxnId="{566F0988-2BC5-4D22-B51F-08E956526FD7}">
      <dgm:prSet/>
      <dgm:spPr/>
      <dgm:t>
        <a:bodyPr/>
        <a:lstStyle/>
        <a:p>
          <a:endParaRPr lang="en-IN"/>
        </a:p>
      </dgm:t>
    </dgm:pt>
    <dgm:pt modelId="{41B10304-75E7-4AE8-87EA-F793A15F5442}" type="sibTrans" cxnId="{566F0988-2BC5-4D22-B51F-08E956526FD7}">
      <dgm:prSet/>
      <dgm:spPr/>
      <dgm:t>
        <a:bodyPr/>
        <a:lstStyle/>
        <a:p>
          <a:endParaRPr lang="en-IN"/>
        </a:p>
      </dgm:t>
    </dgm:pt>
    <dgm:pt modelId="{9551E275-C028-4DC1-881F-B41588A261AF}">
      <dgm:prSet custT="1"/>
      <dgm:spPr/>
      <dgm:t>
        <a:bodyPr/>
        <a:lstStyle/>
        <a:p>
          <a:pPr>
            <a:buNone/>
          </a:pPr>
          <a:r>
            <a:rPr lang="en-US" sz="2000"/>
            <a:t>Managed Security Service Providers (MSSPs)</a:t>
          </a:r>
          <a:endParaRPr lang="en-IN" sz="2000" dirty="0"/>
        </a:p>
      </dgm:t>
    </dgm:pt>
    <dgm:pt modelId="{3234DA7F-CD80-4A0D-A985-F67142CE2C21}" type="parTrans" cxnId="{9CD36E46-98E5-402A-B268-C0688849DB97}">
      <dgm:prSet/>
      <dgm:spPr/>
      <dgm:t>
        <a:bodyPr/>
        <a:lstStyle/>
        <a:p>
          <a:endParaRPr lang="en-IN"/>
        </a:p>
      </dgm:t>
    </dgm:pt>
    <dgm:pt modelId="{68F68ADD-A06F-4D37-8629-2D139B371C0A}" type="sibTrans" cxnId="{9CD36E46-98E5-402A-B268-C0688849DB97}">
      <dgm:prSet/>
      <dgm:spPr/>
      <dgm:t>
        <a:bodyPr/>
        <a:lstStyle/>
        <a:p>
          <a:endParaRPr lang="en-IN"/>
        </a:p>
      </dgm:t>
    </dgm:pt>
    <dgm:pt modelId="{7EF36473-2A77-4464-B641-8C1102B7F469}">
      <dgm:prSet custT="1"/>
      <dgm:spPr/>
      <dgm:t>
        <a:bodyPr/>
        <a:lstStyle/>
        <a:p>
          <a:r>
            <a:rPr lang="en-IN" sz="2400" b="1"/>
            <a:t>Market Opportunity</a:t>
          </a:r>
          <a:endParaRPr lang="en-IN" sz="2400" b="1" dirty="0"/>
        </a:p>
      </dgm:t>
    </dgm:pt>
    <dgm:pt modelId="{2CE4E804-7DD1-4699-AF4D-C3A3E5CE65D9}" type="parTrans" cxnId="{5C856451-F304-4A13-B411-038EC71D0B36}">
      <dgm:prSet/>
      <dgm:spPr/>
      <dgm:t>
        <a:bodyPr/>
        <a:lstStyle/>
        <a:p>
          <a:endParaRPr lang="en-IN"/>
        </a:p>
      </dgm:t>
    </dgm:pt>
    <dgm:pt modelId="{8F4D80FB-336E-4414-99FC-75FAFF1665B0}" type="sibTrans" cxnId="{5C856451-F304-4A13-B411-038EC71D0B36}">
      <dgm:prSet/>
      <dgm:spPr/>
      <dgm:t>
        <a:bodyPr/>
        <a:lstStyle/>
        <a:p>
          <a:endParaRPr lang="en-IN"/>
        </a:p>
      </dgm:t>
    </dgm:pt>
    <dgm:pt modelId="{9722A544-9857-4253-9452-FCE0B1CA07F4}">
      <dgm:prSet/>
      <dgm:spPr/>
      <dgm:t>
        <a:bodyPr/>
        <a:lstStyle/>
        <a:p>
          <a:r>
            <a:rPr lang="en-IN"/>
            <a:t>  </a:t>
          </a:r>
          <a:endParaRPr lang="en-IN" dirty="0"/>
        </a:p>
      </dgm:t>
    </dgm:pt>
    <dgm:pt modelId="{B369C809-0FB0-46B7-B438-93D52FE690B1}" type="parTrans" cxnId="{63815935-0DB2-4A50-BA9D-8DE91B5A4C42}">
      <dgm:prSet/>
      <dgm:spPr/>
      <dgm:t>
        <a:bodyPr/>
        <a:lstStyle/>
        <a:p>
          <a:endParaRPr lang="en-IN"/>
        </a:p>
      </dgm:t>
    </dgm:pt>
    <dgm:pt modelId="{68FAB3A7-890E-437A-9EDE-DA2462624BF9}" type="sibTrans" cxnId="{63815935-0DB2-4A50-BA9D-8DE91B5A4C42}">
      <dgm:prSet/>
      <dgm:spPr/>
      <dgm:t>
        <a:bodyPr/>
        <a:lstStyle/>
        <a:p>
          <a:endParaRPr lang="en-IN"/>
        </a:p>
      </dgm:t>
    </dgm:pt>
    <dgm:pt modelId="{9088DEC1-FD54-4A01-B8AE-40E147BF59F8}">
      <dgm:prSet custT="1"/>
      <dgm:spPr/>
      <dgm:t>
        <a:bodyPr/>
        <a:lstStyle/>
        <a:p>
          <a:r>
            <a:rPr lang="en-IN" sz="2000" dirty="0"/>
            <a:t>On-premise licenses + annual maintenance</a:t>
          </a:r>
        </a:p>
      </dgm:t>
    </dgm:pt>
    <dgm:pt modelId="{7B548BE5-D98F-41AB-847B-1A81A1C06594}" type="parTrans" cxnId="{683787D7-872D-4013-A808-AFABD9FE4305}">
      <dgm:prSet/>
      <dgm:spPr/>
      <dgm:t>
        <a:bodyPr/>
        <a:lstStyle/>
        <a:p>
          <a:endParaRPr lang="en-IN"/>
        </a:p>
      </dgm:t>
    </dgm:pt>
    <dgm:pt modelId="{92F0002F-B43B-421A-99C0-F3A4C9E24C68}" type="sibTrans" cxnId="{683787D7-872D-4013-A808-AFABD9FE4305}">
      <dgm:prSet/>
      <dgm:spPr/>
      <dgm:t>
        <a:bodyPr/>
        <a:lstStyle/>
        <a:p>
          <a:endParaRPr lang="en-IN"/>
        </a:p>
      </dgm:t>
    </dgm:pt>
    <dgm:pt modelId="{773C8374-F312-4471-A7CE-B6B459F657B6}">
      <dgm:prSet custT="1"/>
      <dgm:spPr/>
      <dgm:t>
        <a:bodyPr/>
        <a:lstStyle/>
        <a:p>
          <a:r>
            <a:rPr lang="en-IN" sz="2000" dirty="0"/>
            <a:t> Paid add-ons (MITRE &amp; CVE intelligence)</a:t>
          </a:r>
        </a:p>
      </dgm:t>
    </dgm:pt>
    <dgm:pt modelId="{E3EF5345-2E27-4F8C-8B7E-2F095436A38D}" type="parTrans" cxnId="{05A4C35B-9607-451A-8574-36A7877F8EF0}">
      <dgm:prSet/>
      <dgm:spPr/>
      <dgm:t>
        <a:bodyPr/>
        <a:lstStyle/>
        <a:p>
          <a:endParaRPr lang="en-IN"/>
        </a:p>
      </dgm:t>
    </dgm:pt>
    <dgm:pt modelId="{AF8492E1-2A64-4330-BDF4-4714A77557C8}" type="sibTrans" cxnId="{05A4C35B-9607-451A-8574-36A7877F8EF0}">
      <dgm:prSet/>
      <dgm:spPr/>
      <dgm:t>
        <a:bodyPr/>
        <a:lstStyle/>
        <a:p>
          <a:endParaRPr lang="en-IN"/>
        </a:p>
      </dgm:t>
    </dgm:pt>
    <dgm:pt modelId="{BAF5CFE7-33E5-4D00-BA66-EBC6FCF6962C}">
      <dgm:prSet custT="1"/>
      <dgm:spPr/>
      <dgm:t>
        <a:bodyPr/>
        <a:lstStyle/>
        <a:p>
          <a:pPr>
            <a:buNone/>
          </a:pPr>
          <a:r>
            <a:rPr lang="en-US" sz="2000" dirty="0"/>
            <a:t> Mid-sized companies (200–2000 employees)</a:t>
          </a:r>
          <a:endParaRPr lang="en-IN" sz="2000" dirty="0"/>
        </a:p>
      </dgm:t>
    </dgm:pt>
    <dgm:pt modelId="{7AC0AAF3-97A6-4978-BA08-E1E86F901293}" type="parTrans" cxnId="{82FC50B5-C80E-4F55-8BBB-74F93E740227}">
      <dgm:prSet/>
      <dgm:spPr/>
      <dgm:t>
        <a:bodyPr/>
        <a:lstStyle/>
        <a:p>
          <a:endParaRPr lang="en-IN"/>
        </a:p>
      </dgm:t>
    </dgm:pt>
    <dgm:pt modelId="{E2229060-FFE6-46C8-81AE-B3FC38FB9907}" type="sibTrans" cxnId="{82FC50B5-C80E-4F55-8BBB-74F93E740227}">
      <dgm:prSet/>
      <dgm:spPr/>
      <dgm:t>
        <a:bodyPr/>
        <a:lstStyle/>
        <a:p>
          <a:endParaRPr lang="en-IN"/>
        </a:p>
      </dgm:t>
    </dgm:pt>
    <dgm:pt modelId="{D3142B15-A390-4FBE-98F1-D971C965B41D}">
      <dgm:prSet custT="1"/>
      <dgm:spPr/>
      <dgm:t>
        <a:bodyPr/>
        <a:lstStyle/>
        <a:p>
          <a:pPr>
            <a:buNone/>
          </a:pPr>
          <a:r>
            <a:rPr lang="en-US" sz="2000"/>
            <a:t> Government &amp; defense (secure on-premise needs)</a:t>
          </a:r>
          <a:endParaRPr lang="en-IN" sz="2000" dirty="0"/>
        </a:p>
      </dgm:t>
    </dgm:pt>
    <dgm:pt modelId="{E8D02D75-7D95-4563-B1E5-FC389FEF7438}" type="parTrans" cxnId="{59559364-54D7-4B62-99B1-3CE81FE3675B}">
      <dgm:prSet/>
      <dgm:spPr/>
      <dgm:t>
        <a:bodyPr/>
        <a:lstStyle/>
        <a:p>
          <a:endParaRPr lang="en-IN"/>
        </a:p>
      </dgm:t>
    </dgm:pt>
    <dgm:pt modelId="{0F5B7EBF-CD74-4F72-9679-429319582167}" type="sibTrans" cxnId="{59559364-54D7-4B62-99B1-3CE81FE3675B}">
      <dgm:prSet/>
      <dgm:spPr/>
      <dgm:t>
        <a:bodyPr/>
        <a:lstStyle/>
        <a:p>
          <a:endParaRPr lang="en-IN"/>
        </a:p>
      </dgm:t>
    </dgm:pt>
    <dgm:pt modelId="{83FA7126-4D55-444A-A399-5DB78A5A0103}">
      <dgm:prSet custT="1"/>
      <dgm:spPr/>
      <dgm:t>
        <a:bodyPr/>
        <a:lstStyle/>
        <a:p>
          <a:endParaRPr lang="en-IN" sz="1800" b="1" dirty="0">
            <a:solidFill>
              <a:schemeClr val="tx1"/>
            </a:solidFill>
          </a:endParaRPr>
        </a:p>
      </dgm:t>
    </dgm:pt>
    <dgm:pt modelId="{8A99CA40-6D35-4283-8BC0-0593A629D1E4}" type="parTrans" cxnId="{6E66F791-A12C-40A3-9FF0-FA80F5AB1963}">
      <dgm:prSet/>
      <dgm:spPr/>
      <dgm:t>
        <a:bodyPr/>
        <a:lstStyle/>
        <a:p>
          <a:endParaRPr lang="en-IN"/>
        </a:p>
      </dgm:t>
    </dgm:pt>
    <dgm:pt modelId="{BCF010B1-B850-46D6-B2B7-888E16CBF5A7}" type="sibTrans" cxnId="{6E66F791-A12C-40A3-9FF0-FA80F5AB1963}">
      <dgm:prSet/>
      <dgm:spPr/>
      <dgm:t>
        <a:bodyPr/>
        <a:lstStyle/>
        <a:p>
          <a:endParaRPr lang="en-IN"/>
        </a:p>
      </dgm:t>
    </dgm:pt>
    <dgm:pt modelId="{7688179D-D617-42CC-9A7D-FC067377FD96}">
      <dgm:prSet custT="1"/>
      <dgm:spPr/>
      <dgm:t>
        <a:bodyPr/>
        <a:lstStyle/>
        <a:p>
          <a:pPr>
            <a:buNone/>
          </a:pPr>
          <a:r>
            <a:rPr lang="en-US" sz="2000"/>
            <a:t>SIEM market growing to $9.5B by 2028</a:t>
          </a:r>
          <a:endParaRPr lang="en-IN" sz="2000" b="1" dirty="0"/>
        </a:p>
      </dgm:t>
    </dgm:pt>
    <dgm:pt modelId="{6B5B4B9C-FC84-4E1B-8CC9-D22D985DFD33}" type="parTrans" cxnId="{F02357DD-DE75-4AE3-A307-393BF6E3DAD9}">
      <dgm:prSet/>
      <dgm:spPr/>
      <dgm:t>
        <a:bodyPr/>
        <a:lstStyle/>
        <a:p>
          <a:endParaRPr lang="en-IN"/>
        </a:p>
      </dgm:t>
    </dgm:pt>
    <dgm:pt modelId="{EAB441FA-84B0-4FDE-8339-E9F1AE0AE742}" type="sibTrans" cxnId="{F02357DD-DE75-4AE3-A307-393BF6E3DAD9}">
      <dgm:prSet/>
      <dgm:spPr/>
      <dgm:t>
        <a:bodyPr/>
        <a:lstStyle/>
        <a:p>
          <a:endParaRPr lang="en-IN"/>
        </a:p>
      </dgm:t>
    </dgm:pt>
    <dgm:pt modelId="{A300E86C-EF49-44C1-A0D8-7088CE15ADD9}">
      <dgm:prSet custT="1"/>
      <dgm:spPr/>
      <dgm:t>
        <a:bodyPr/>
        <a:lstStyle/>
        <a:p>
          <a:pPr>
            <a:buNone/>
          </a:pPr>
          <a:r>
            <a:rPr lang="en-US" sz="2000"/>
            <a:t>60% of SMBs face security incidents</a:t>
          </a:r>
          <a:endParaRPr lang="en-IN" sz="2000" b="1" dirty="0"/>
        </a:p>
      </dgm:t>
    </dgm:pt>
    <dgm:pt modelId="{D1313650-39BE-4532-8CE8-1F5D13F58BC9}" type="parTrans" cxnId="{6ABC86D1-0877-4E1E-B857-24E166B7DAE0}">
      <dgm:prSet/>
      <dgm:spPr/>
      <dgm:t>
        <a:bodyPr/>
        <a:lstStyle/>
        <a:p>
          <a:endParaRPr lang="en-IN"/>
        </a:p>
      </dgm:t>
    </dgm:pt>
    <dgm:pt modelId="{319DBC1D-7CF8-47A2-A6CC-0A23E97605D3}" type="sibTrans" cxnId="{6ABC86D1-0877-4E1E-B857-24E166B7DAE0}">
      <dgm:prSet/>
      <dgm:spPr/>
      <dgm:t>
        <a:bodyPr/>
        <a:lstStyle/>
        <a:p>
          <a:endParaRPr lang="en-IN"/>
        </a:p>
      </dgm:t>
    </dgm:pt>
    <dgm:pt modelId="{F8E1A715-74D1-4932-9717-226A4B476A3D}">
      <dgm:prSet custT="1"/>
      <dgm:spPr/>
      <dgm:t>
        <a:bodyPr/>
        <a:lstStyle/>
        <a:p>
          <a:pPr>
            <a:buNone/>
          </a:pPr>
          <a:r>
            <a:rPr lang="en-US" sz="2000"/>
            <a:t>Rising need for automated threat detection</a:t>
          </a:r>
          <a:endParaRPr lang="en-IN" sz="2000" b="1" dirty="0"/>
        </a:p>
      </dgm:t>
    </dgm:pt>
    <dgm:pt modelId="{CC5567A0-9CB1-4E8A-B7A7-530BDD8C9892}" type="parTrans" cxnId="{F1565371-2440-43F0-B308-CA3ABEA061F9}">
      <dgm:prSet/>
      <dgm:spPr/>
      <dgm:t>
        <a:bodyPr/>
        <a:lstStyle/>
        <a:p>
          <a:endParaRPr lang="en-IN"/>
        </a:p>
      </dgm:t>
    </dgm:pt>
    <dgm:pt modelId="{7A2379BF-4E7C-421C-ABA5-A834A01687E8}" type="sibTrans" cxnId="{F1565371-2440-43F0-B308-CA3ABEA061F9}">
      <dgm:prSet/>
      <dgm:spPr/>
      <dgm:t>
        <a:bodyPr/>
        <a:lstStyle/>
        <a:p>
          <a:endParaRPr lang="en-IN"/>
        </a:p>
      </dgm:t>
    </dgm:pt>
    <dgm:pt modelId="{F929A887-0905-4828-8C70-762203CE43C7}">
      <dgm:prSet custT="1"/>
      <dgm:spPr>
        <a:solidFill>
          <a:schemeClr val="tx2"/>
        </a:solidFill>
      </dgm:spPr>
      <dgm:t>
        <a:bodyPr/>
        <a:lstStyle/>
        <a:p>
          <a:endParaRPr lang="en-IN" sz="1800" b="1" dirty="0">
            <a:solidFill>
              <a:schemeClr val="tx1"/>
            </a:solidFill>
          </a:endParaRPr>
        </a:p>
      </dgm:t>
    </dgm:pt>
    <dgm:pt modelId="{9DD2A9EC-87BE-4F8B-844F-BDD113C36546}" type="parTrans" cxnId="{72AF5CCE-B91E-4F3C-B9B1-9A4FB76B172D}">
      <dgm:prSet/>
      <dgm:spPr/>
      <dgm:t>
        <a:bodyPr/>
        <a:lstStyle/>
        <a:p>
          <a:endParaRPr lang="en-IN"/>
        </a:p>
      </dgm:t>
    </dgm:pt>
    <dgm:pt modelId="{30512E58-B77F-4AD8-B8F0-6091A6F22A66}" type="sibTrans" cxnId="{72AF5CCE-B91E-4F3C-B9B1-9A4FB76B172D}">
      <dgm:prSet/>
      <dgm:spPr/>
      <dgm:t>
        <a:bodyPr/>
        <a:lstStyle/>
        <a:p>
          <a:endParaRPr lang="en-IN"/>
        </a:p>
      </dgm:t>
    </dgm:pt>
    <dgm:pt modelId="{2031F269-27FC-4F9B-B7A9-C9C223431367}">
      <dgm:prSet custT="1"/>
      <dgm:spPr/>
      <dgm:t>
        <a:bodyPr/>
        <a:lstStyle/>
        <a:p>
          <a:endParaRPr lang="en-IN" sz="1800" b="1" dirty="0">
            <a:solidFill>
              <a:schemeClr val="tx1"/>
            </a:solidFill>
          </a:endParaRPr>
        </a:p>
      </dgm:t>
    </dgm:pt>
    <dgm:pt modelId="{42B9D3E5-853A-4B3C-9765-8B77106FFFE7}" type="parTrans" cxnId="{66A42F9B-D831-4545-B10F-D15969D48C86}">
      <dgm:prSet/>
      <dgm:spPr/>
      <dgm:t>
        <a:bodyPr/>
        <a:lstStyle/>
        <a:p>
          <a:endParaRPr lang="en-IN"/>
        </a:p>
      </dgm:t>
    </dgm:pt>
    <dgm:pt modelId="{B7B8659B-0679-453A-A1F0-1BDD7167980C}" type="sibTrans" cxnId="{66A42F9B-D831-4545-B10F-D15969D48C86}">
      <dgm:prSet/>
      <dgm:spPr/>
      <dgm:t>
        <a:bodyPr/>
        <a:lstStyle/>
        <a:p>
          <a:endParaRPr lang="en-IN"/>
        </a:p>
      </dgm:t>
    </dgm:pt>
    <dgm:pt modelId="{1A2C1AB6-BA92-439E-96F6-4E2B48945DF9}">
      <dgm:prSet custT="1"/>
      <dgm:spPr/>
      <dgm:t>
        <a:bodyPr/>
        <a:lstStyle/>
        <a:p>
          <a:pPr>
            <a:buNone/>
          </a:pPr>
          <a:r>
            <a:rPr lang="en-IN" sz="2400" b="1"/>
            <a:t>Growth Potential</a:t>
          </a:r>
          <a:endParaRPr lang="en-IN" sz="2400" b="1" dirty="0"/>
        </a:p>
      </dgm:t>
    </dgm:pt>
    <dgm:pt modelId="{98CA9074-724B-4B10-85F6-3CFC463E1B22}" type="parTrans" cxnId="{5F887457-7932-4F9C-90C1-187D3170435E}">
      <dgm:prSet/>
      <dgm:spPr/>
      <dgm:t>
        <a:bodyPr/>
        <a:lstStyle/>
        <a:p>
          <a:endParaRPr lang="en-IN"/>
        </a:p>
      </dgm:t>
    </dgm:pt>
    <dgm:pt modelId="{8D74A2F6-56E3-4403-AFE9-35CBF01A138B}" type="sibTrans" cxnId="{5F887457-7932-4F9C-90C1-187D3170435E}">
      <dgm:prSet/>
      <dgm:spPr/>
      <dgm:t>
        <a:bodyPr/>
        <a:lstStyle/>
        <a:p>
          <a:endParaRPr lang="en-IN"/>
        </a:p>
      </dgm:t>
    </dgm:pt>
    <dgm:pt modelId="{1A4E2F9D-8F85-48D8-A0E5-AE8D117EC092}">
      <dgm:prSet custT="1"/>
      <dgm:spPr/>
      <dgm:t>
        <a:bodyPr/>
        <a:lstStyle/>
        <a:p>
          <a:pPr>
            <a:buNone/>
          </a:pPr>
          <a:r>
            <a:rPr lang="en-US" sz="2000"/>
            <a:t>Expand to full XDR platform</a:t>
          </a:r>
          <a:endParaRPr lang="en-IN" sz="2000" b="1" dirty="0"/>
        </a:p>
      </dgm:t>
    </dgm:pt>
    <dgm:pt modelId="{AEFFB055-24D8-490B-A11C-7D23EC953521}" type="parTrans" cxnId="{E2E59E2C-7659-47B8-A4AF-2DABD1A0A03B}">
      <dgm:prSet/>
      <dgm:spPr/>
      <dgm:t>
        <a:bodyPr/>
        <a:lstStyle/>
        <a:p>
          <a:endParaRPr lang="en-IN"/>
        </a:p>
      </dgm:t>
    </dgm:pt>
    <dgm:pt modelId="{99D457D7-1B42-428E-AE1C-45E6A89171ED}" type="sibTrans" cxnId="{E2E59E2C-7659-47B8-A4AF-2DABD1A0A03B}">
      <dgm:prSet/>
      <dgm:spPr/>
      <dgm:t>
        <a:bodyPr/>
        <a:lstStyle/>
        <a:p>
          <a:endParaRPr lang="en-IN"/>
        </a:p>
      </dgm:t>
    </dgm:pt>
    <dgm:pt modelId="{A5BABD61-63F7-4C43-9FCB-ADCEB721582A}">
      <dgm:prSet custT="1"/>
      <dgm:spPr/>
      <dgm:t>
        <a:bodyPr/>
        <a:lstStyle/>
        <a:p>
          <a:pPr>
            <a:buNone/>
          </a:pPr>
          <a:r>
            <a:rPr lang="en-US" sz="2000"/>
            <a:t> Enter global markets (EMEA &amp; APAC)</a:t>
          </a:r>
          <a:endParaRPr lang="en-IN" sz="2000" b="1" dirty="0"/>
        </a:p>
      </dgm:t>
    </dgm:pt>
    <dgm:pt modelId="{C8E25908-DCD6-4324-B2F4-D9C86AC5D279}" type="parTrans" cxnId="{79F967E0-F567-4516-A47A-7B2091F24F83}">
      <dgm:prSet/>
      <dgm:spPr/>
      <dgm:t>
        <a:bodyPr/>
        <a:lstStyle/>
        <a:p>
          <a:endParaRPr lang="en-IN"/>
        </a:p>
      </dgm:t>
    </dgm:pt>
    <dgm:pt modelId="{B98CF75E-7CB1-477D-8D80-DD6534004492}" type="sibTrans" cxnId="{79F967E0-F567-4516-A47A-7B2091F24F83}">
      <dgm:prSet/>
      <dgm:spPr/>
      <dgm:t>
        <a:bodyPr/>
        <a:lstStyle/>
        <a:p>
          <a:endParaRPr lang="en-IN"/>
        </a:p>
      </dgm:t>
    </dgm:pt>
    <dgm:pt modelId="{73223839-A812-4D19-A68F-5CD58B5828D0}">
      <dgm:prSet custT="1"/>
      <dgm:spPr/>
      <dgm:t>
        <a:bodyPr/>
        <a:lstStyle/>
        <a:p>
          <a:pPr>
            <a:buNone/>
          </a:pPr>
          <a:r>
            <a:rPr lang="en-US" sz="2000"/>
            <a:t> Partner with AWS, Azure, GCP</a:t>
          </a:r>
          <a:endParaRPr lang="en-IN" sz="2000" b="1" dirty="0"/>
        </a:p>
      </dgm:t>
    </dgm:pt>
    <dgm:pt modelId="{02630EA5-0DE7-4C03-B267-993CCDCB2701}" type="parTrans" cxnId="{6F24936E-452F-4AA8-9B08-EE49193AC12D}">
      <dgm:prSet/>
      <dgm:spPr/>
      <dgm:t>
        <a:bodyPr/>
        <a:lstStyle/>
        <a:p>
          <a:endParaRPr lang="en-IN"/>
        </a:p>
      </dgm:t>
    </dgm:pt>
    <dgm:pt modelId="{76CBA81F-2E10-46FB-83DE-417DFE576B5E}" type="sibTrans" cxnId="{6F24936E-452F-4AA8-9B08-EE49193AC12D}">
      <dgm:prSet/>
      <dgm:spPr/>
      <dgm:t>
        <a:bodyPr/>
        <a:lstStyle/>
        <a:p>
          <a:endParaRPr lang="en-IN"/>
        </a:p>
      </dgm:t>
    </dgm:pt>
    <dgm:pt modelId="{729EEC41-5D31-4C01-92DF-88095825192A}" type="pres">
      <dgm:prSet presAssocID="{854E6123-BA28-4E88-B10C-CBFA82CEA5EB}" presName="Name0" presStyleCnt="0">
        <dgm:presLayoutVars>
          <dgm:dir/>
          <dgm:animLvl val="lvl"/>
          <dgm:resizeHandles val="exact"/>
        </dgm:presLayoutVars>
      </dgm:prSet>
      <dgm:spPr/>
    </dgm:pt>
    <dgm:pt modelId="{9D687136-6917-429A-B622-E27BA26A3445}" type="pres">
      <dgm:prSet presAssocID="{8EDC59F5-21D5-4B2C-AA77-DE08295F3539}" presName="compositeNode" presStyleCnt="0">
        <dgm:presLayoutVars>
          <dgm:bulletEnabled val="1"/>
        </dgm:presLayoutVars>
      </dgm:prSet>
      <dgm:spPr/>
    </dgm:pt>
    <dgm:pt modelId="{CCC7F9A1-0A4B-4F5D-9D74-7DAEACD249AF}" type="pres">
      <dgm:prSet presAssocID="{8EDC59F5-21D5-4B2C-AA77-DE08295F3539}" presName="bgRect" presStyleLbl="node1" presStyleIdx="0" presStyleCnt="4" custScaleX="166219" custScaleY="83477" custLinFactNeighborX="-3434" custLinFactNeighborY="32616"/>
      <dgm:spPr/>
    </dgm:pt>
    <dgm:pt modelId="{223607CA-E7D2-4B3F-B66B-49E7FA110F7D}" type="pres">
      <dgm:prSet presAssocID="{8EDC59F5-21D5-4B2C-AA77-DE08295F3539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FBDE6EB2-A9AF-4CEE-8A72-1A72E46DE7CE}" type="pres">
      <dgm:prSet presAssocID="{8EDC59F5-21D5-4B2C-AA77-DE08295F3539}" presName="childNode" presStyleLbl="node1" presStyleIdx="0" presStyleCnt="4">
        <dgm:presLayoutVars>
          <dgm:bulletEnabled val="1"/>
        </dgm:presLayoutVars>
      </dgm:prSet>
      <dgm:spPr/>
    </dgm:pt>
    <dgm:pt modelId="{6C73B481-EEF7-4372-B3A3-CE390C4E84E6}" type="pres">
      <dgm:prSet presAssocID="{E0AB362E-E110-4ED2-BBAF-665D761D59D9}" presName="hSp" presStyleCnt="0"/>
      <dgm:spPr/>
    </dgm:pt>
    <dgm:pt modelId="{BE3AE234-5B04-42DE-8DB7-A755135BEB81}" type="pres">
      <dgm:prSet presAssocID="{E0AB362E-E110-4ED2-BBAF-665D761D59D9}" presName="vProcSp" presStyleCnt="0"/>
      <dgm:spPr/>
    </dgm:pt>
    <dgm:pt modelId="{315A0497-AB11-4B08-B6CE-53EAE063C93F}" type="pres">
      <dgm:prSet presAssocID="{E0AB362E-E110-4ED2-BBAF-665D761D59D9}" presName="vSp1" presStyleCnt="0"/>
      <dgm:spPr/>
    </dgm:pt>
    <dgm:pt modelId="{443051F4-ED21-4EBF-9EC7-94763003D3C9}" type="pres">
      <dgm:prSet presAssocID="{E0AB362E-E110-4ED2-BBAF-665D761D59D9}" presName="simulatedConn" presStyleLbl="solidFgAcc1" presStyleIdx="0" presStyleCnt="3" custAng="15161853" custFlipVert="1" custFlipHor="1" custScaleX="52713" custScaleY="94329" custLinFactX="1852947" custLinFactY="-384667" custLinFactNeighborX="1900000" custLinFactNeighborY="-400000"/>
      <dgm:spPr/>
    </dgm:pt>
    <dgm:pt modelId="{760B901E-9404-4EE2-9961-E38536C801F4}" type="pres">
      <dgm:prSet presAssocID="{E0AB362E-E110-4ED2-BBAF-665D761D59D9}" presName="vSp2" presStyleCnt="0"/>
      <dgm:spPr/>
    </dgm:pt>
    <dgm:pt modelId="{55BBC29F-C0A8-4780-BA5F-320E8BD92C36}" type="pres">
      <dgm:prSet presAssocID="{E0AB362E-E110-4ED2-BBAF-665D761D59D9}" presName="sibTrans" presStyleCnt="0"/>
      <dgm:spPr/>
    </dgm:pt>
    <dgm:pt modelId="{351F2FFD-3698-4462-A814-0534AC7EA9E4}" type="pres">
      <dgm:prSet presAssocID="{E5436F11-0E8F-45F2-9893-A2768DE68337}" presName="compositeNode" presStyleCnt="0">
        <dgm:presLayoutVars>
          <dgm:bulletEnabled val="1"/>
        </dgm:presLayoutVars>
      </dgm:prSet>
      <dgm:spPr/>
    </dgm:pt>
    <dgm:pt modelId="{51266D37-3A61-415C-8ED1-11E3BBB9525C}" type="pres">
      <dgm:prSet presAssocID="{E5436F11-0E8F-45F2-9893-A2768DE68337}" presName="bgRect" presStyleLbl="node1" presStyleIdx="1" presStyleCnt="4" custScaleX="172398" custScaleY="81752" custLinFactNeighborX="-2445" custLinFactNeighborY="32817"/>
      <dgm:spPr/>
    </dgm:pt>
    <dgm:pt modelId="{756CF36D-BA41-4931-959B-216F84A26974}" type="pres">
      <dgm:prSet presAssocID="{E5436F11-0E8F-45F2-9893-A2768DE68337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49CDC726-4229-40E9-9466-BA921377E5C3}" type="pres">
      <dgm:prSet presAssocID="{E5436F11-0E8F-45F2-9893-A2768DE68337}" presName="childNode" presStyleLbl="node1" presStyleIdx="1" presStyleCnt="4">
        <dgm:presLayoutVars>
          <dgm:bulletEnabled val="1"/>
        </dgm:presLayoutVars>
      </dgm:prSet>
      <dgm:spPr/>
    </dgm:pt>
    <dgm:pt modelId="{ACB19987-4BD0-465D-AF8B-1711C81AF9B0}" type="pres">
      <dgm:prSet presAssocID="{823B452D-F2E7-49B6-A1D7-562A4A7BCAE5}" presName="hSp" presStyleCnt="0"/>
      <dgm:spPr/>
    </dgm:pt>
    <dgm:pt modelId="{75DE1B48-ADDB-4A33-9402-6AFDD208B6F5}" type="pres">
      <dgm:prSet presAssocID="{823B452D-F2E7-49B6-A1D7-562A4A7BCAE5}" presName="vProcSp" presStyleCnt="0"/>
      <dgm:spPr/>
    </dgm:pt>
    <dgm:pt modelId="{FF04E84E-F2BE-4DCB-AA82-10C12689BBB8}" type="pres">
      <dgm:prSet presAssocID="{823B452D-F2E7-49B6-A1D7-562A4A7BCAE5}" presName="vSp1" presStyleCnt="0"/>
      <dgm:spPr/>
    </dgm:pt>
    <dgm:pt modelId="{9DFF8F47-47C2-4FB8-B899-D491DBD9B175}" type="pres">
      <dgm:prSet presAssocID="{823B452D-F2E7-49B6-A1D7-562A4A7BCAE5}" presName="simulatedConn" presStyleLbl="solidFgAcc1" presStyleIdx="1" presStyleCnt="3" custLinFactX="1203637" custLinFactY="-390998" custLinFactNeighborX="1300000" custLinFactNeighborY="-400000"/>
      <dgm:spPr/>
    </dgm:pt>
    <dgm:pt modelId="{3C3A3D1D-288D-4661-8933-75B12A581195}" type="pres">
      <dgm:prSet presAssocID="{823B452D-F2E7-49B6-A1D7-562A4A7BCAE5}" presName="vSp2" presStyleCnt="0"/>
      <dgm:spPr/>
    </dgm:pt>
    <dgm:pt modelId="{4B938323-F65B-4758-8E1F-D8170D60FCE8}" type="pres">
      <dgm:prSet presAssocID="{823B452D-F2E7-49B6-A1D7-562A4A7BCAE5}" presName="sibTrans" presStyleCnt="0"/>
      <dgm:spPr/>
    </dgm:pt>
    <dgm:pt modelId="{D01ABD75-D6C2-44E6-A30E-CDF2ABF2015D}" type="pres">
      <dgm:prSet presAssocID="{9722A544-9857-4253-9452-FCE0B1CA07F4}" presName="compositeNode" presStyleCnt="0">
        <dgm:presLayoutVars>
          <dgm:bulletEnabled val="1"/>
        </dgm:presLayoutVars>
      </dgm:prSet>
      <dgm:spPr/>
    </dgm:pt>
    <dgm:pt modelId="{712DD4EE-A63F-4FFE-97B9-DA227691707A}" type="pres">
      <dgm:prSet presAssocID="{9722A544-9857-4253-9452-FCE0B1CA07F4}" presName="bgRect" presStyleLbl="node1" presStyleIdx="2" presStyleCnt="4" custScaleX="165797" custScaleY="83233" custLinFactNeighborX="-3420" custLinFactNeighborY="31318"/>
      <dgm:spPr/>
    </dgm:pt>
    <dgm:pt modelId="{F00923D3-B2EC-4D15-9480-6960EDA1563C}" type="pres">
      <dgm:prSet presAssocID="{9722A544-9857-4253-9452-FCE0B1CA07F4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40D5431D-8639-4139-8063-5EB034D9181C}" type="pres">
      <dgm:prSet presAssocID="{9722A544-9857-4253-9452-FCE0B1CA07F4}" presName="childNode" presStyleLbl="node1" presStyleIdx="2" presStyleCnt="4" custScaleX="499124" custScaleY="276720" custLinFactNeighborX="-29486" custLinFactNeighborY="75501">
        <dgm:presLayoutVars>
          <dgm:bulletEnabled val="1"/>
        </dgm:presLayoutVars>
      </dgm:prSet>
      <dgm:spPr/>
    </dgm:pt>
    <dgm:pt modelId="{CBBC4FAB-4C45-4B78-8DBA-3C73FAB464AA}" type="pres">
      <dgm:prSet presAssocID="{68FAB3A7-890E-437A-9EDE-DA2462624BF9}" presName="hSp" presStyleCnt="0"/>
      <dgm:spPr/>
    </dgm:pt>
    <dgm:pt modelId="{84B42D2B-CDFD-4B8C-9613-924089FC148A}" type="pres">
      <dgm:prSet presAssocID="{68FAB3A7-890E-437A-9EDE-DA2462624BF9}" presName="vProcSp" presStyleCnt="0"/>
      <dgm:spPr/>
    </dgm:pt>
    <dgm:pt modelId="{A4EABD1A-EB80-4867-AC8D-6F7B4305428A}" type="pres">
      <dgm:prSet presAssocID="{68FAB3A7-890E-437A-9EDE-DA2462624BF9}" presName="vSp1" presStyleCnt="0"/>
      <dgm:spPr/>
    </dgm:pt>
    <dgm:pt modelId="{E94C3669-AA37-46EB-85A4-D73E0B5C3D89}" type="pres">
      <dgm:prSet presAssocID="{68FAB3A7-890E-437A-9EDE-DA2462624BF9}" presName="simulatedConn" presStyleLbl="solidFgAcc1" presStyleIdx="2" presStyleCnt="3" custLinFactX="600000" custLinFactY="-400000" custLinFactNeighborX="615438" custLinFactNeighborY="-402669"/>
      <dgm:spPr/>
    </dgm:pt>
    <dgm:pt modelId="{98F967AC-8A14-46A3-A018-1DAF47997C0A}" type="pres">
      <dgm:prSet presAssocID="{68FAB3A7-890E-437A-9EDE-DA2462624BF9}" presName="vSp2" presStyleCnt="0"/>
      <dgm:spPr/>
    </dgm:pt>
    <dgm:pt modelId="{FA5AA59A-D052-4E01-96CB-D404D5062249}" type="pres">
      <dgm:prSet presAssocID="{68FAB3A7-890E-437A-9EDE-DA2462624BF9}" presName="sibTrans" presStyleCnt="0"/>
      <dgm:spPr/>
    </dgm:pt>
    <dgm:pt modelId="{C0DFD20B-96E7-4AD4-8F12-D593CE6077D1}" type="pres">
      <dgm:prSet presAssocID="{F929A887-0905-4828-8C70-762203CE43C7}" presName="compositeNode" presStyleCnt="0">
        <dgm:presLayoutVars>
          <dgm:bulletEnabled val="1"/>
        </dgm:presLayoutVars>
      </dgm:prSet>
      <dgm:spPr/>
    </dgm:pt>
    <dgm:pt modelId="{2834E655-979A-416C-B8AF-6155D3635E0C}" type="pres">
      <dgm:prSet presAssocID="{F929A887-0905-4828-8C70-762203CE43C7}" presName="bgRect" presStyleLbl="node1" presStyleIdx="3" presStyleCnt="4" custScaleX="166858" custScaleY="83999" custLinFactNeighborX="-3567" custLinFactNeighborY="26606"/>
      <dgm:spPr/>
    </dgm:pt>
    <dgm:pt modelId="{F86235DA-5FB5-439B-A10F-0493690D7096}" type="pres">
      <dgm:prSet presAssocID="{F929A887-0905-4828-8C70-762203CE43C7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8F8D7CB4-6A27-4896-8D2A-806D19475C97}" type="pres">
      <dgm:prSet presAssocID="{F929A887-0905-4828-8C70-762203CE43C7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9E1EDC02-CC95-4BCC-88AD-F1AEE58D115F}" type="presOf" srcId="{E5436F11-0E8F-45F2-9893-A2768DE68337}" destId="{51266D37-3A61-415C-8ED1-11E3BBB9525C}" srcOrd="0" destOrd="0" presId="urn:microsoft.com/office/officeart/2005/8/layout/hProcess7"/>
    <dgm:cxn modelId="{B702D00A-F1F1-4892-9E5C-5918A11086FF}" type="presOf" srcId="{9088DEC1-FD54-4A01-B8AE-40E147BF59F8}" destId="{FBDE6EB2-A9AF-4CEE-8A72-1A72E46DE7CE}" srcOrd="0" destOrd="2" presId="urn:microsoft.com/office/officeart/2005/8/layout/hProcess7"/>
    <dgm:cxn modelId="{582E0E0F-5FD2-4D1F-97CC-1E6B6BDE460B}" type="presOf" srcId="{9551E275-C028-4DC1-881F-B41588A261AF}" destId="{49CDC726-4229-40E9-9466-BA921377E5C3}" srcOrd="0" destOrd="1" presId="urn:microsoft.com/office/officeart/2005/8/layout/hProcess7"/>
    <dgm:cxn modelId="{4EB8F417-2037-4CAA-805F-A14D09719251}" srcId="{854E6123-BA28-4E88-B10C-CBFA82CEA5EB}" destId="{8EDC59F5-21D5-4B2C-AA77-DE08295F3539}" srcOrd="0" destOrd="0" parTransId="{56BDD8DB-96BB-4C66-836A-CFCDB3F76189}" sibTransId="{E0AB362E-E110-4ED2-BBAF-665D761D59D9}"/>
    <dgm:cxn modelId="{02EB2D1D-5BA7-4C13-99AF-3DE52955E666}" type="presOf" srcId="{F8E1A715-74D1-4932-9717-226A4B476A3D}" destId="{40D5431D-8639-4139-8063-5EB034D9181C}" srcOrd="0" destOrd="3" presId="urn:microsoft.com/office/officeart/2005/8/layout/hProcess7"/>
    <dgm:cxn modelId="{BF533C20-612C-4F79-8FC2-4D4B25F5FD7C}" srcId="{8EDC59F5-21D5-4B2C-AA77-DE08295F3539}" destId="{CBF6087F-AA29-4E9F-9288-5C5CB7150935}" srcOrd="0" destOrd="0" parTransId="{AB06FAF0-E58D-4768-AB5D-11CD8E64E2E9}" sibTransId="{79817F90-7200-47F4-A0AF-2FED786EB7B5}"/>
    <dgm:cxn modelId="{5E51A024-FE70-424D-8673-49D32B7CC7A3}" type="presOf" srcId="{F929A887-0905-4828-8C70-762203CE43C7}" destId="{F86235DA-5FB5-439B-A10F-0493690D7096}" srcOrd="1" destOrd="0" presId="urn:microsoft.com/office/officeart/2005/8/layout/hProcess7"/>
    <dgm:cxn modelId="{FF21C326-62E4-40D9-847B-9AD9E33634AB}" type="presOf" srcId="{2031F269-27FC-4F9B-B7A9-C9C223431367}" destId="{8F8D7CB4-6A27-4896-8D2A-806D19475C97}" srcOrd="0" destOrd="4" presId="urn:microsoft.com/office/officeart/2005/8/layout/hProcess7"/>
    <dgm:cxn modelId="{E2E59E2C-7659-47B8-A4AF-2DABD1A0A03B}" srcId="{F929A887-0905-4828-8C70-762203CE43C7}" destId="{1A4E2F9D-8F85-48D8-A0E5-AE8D117EC092}" srcOrd="1" destOrd="0" parTransId="{AEFFB055-24D8-490B-A11C-7D23EC953521}" sibTransId="{99D457D7-1B42-428E-AE1C-45E6A89171ED}"/>
    <dgm:cxn modelId="{63815935-0DB2-4A50-BA9D-8DE91B5A4C42}" srcId="{854E6123-BA28-4E88-B10C-CBFA82CEA5EB}" destId="{9722A544-9857-4253-9452-FCE0B1CA07F4}" srcOrd="2" destOrd="0" parTransId="{B369C809-0FB0-46B7-B438-93D52FE690B1}" sibTransId="{68FAB3A7-890E-437A-9EDE-DA2462624BF9}"/>
    <dgm:cxn modelId="{D93E143C-7753-4088-BE08-F373B50BCE47}" type="presOf" srcId="{9722A544-9857-4253-9452-FCE0B1CA07F4}" destId="{712DD4EE-A63F-4FFE-97B9-DA227691707A}" srcOrd="0" destOrd="0" presId="urn:microsoft.com/office/officeart/2005/8/layout/hProcess7"/>
    <dgm:cxn modelId="{05A4C35B-9607-451A-8574-36A7877F8EF0}" srcId="{8EDC59F5-21D5-4B2C-AA77-DE08295F3539}" destId="{773C8374-F312-4471-A7CE-B6B459F657B6}" srcOrd="3" destOrd="0" parTransId="{E3EF5345-2E27-4F8C-8B7E-2F095436A38D}" sibTransId="{AF8492E1-2A64-4330-BDF4-4714A77557C8}"/>
    <dgm:cxn modelId="{DEC94E5C-282A-4B6F-A931-D57F93A7C8BC}" srcId="{E5436F11-0E8F-45F2-9893-A2768DE68337}" destId="{F5BA8C82-AD42-491E-B23C-B9203CE37435}" srcOrd="0" destOrd="0" parTransId="{456CB5AB-2F1C-40C4-B91F-0BC60B4A67EF}" sibTransId="{BCD521D3-9A5C-4EC7-A6B2-39EAC870CA8C}"/>
    <dgm:cxn modelId="{D9A73460-5DE0-47BB-952C-B8BC4742D801}" type="presOf" srcId="{854E6123-BA28-4E88-B10C-CBFA82CEA5EB}" destId="{729EEC41-5D31-4C01-92DF-88095825192A}" srcOrd="0" destOrd="0" presId="urn:microsoft.com/office/officeart/2005/8/layout/hProcess7"/>
    <dgm:cxn modelId="{59559364-54D7-4B62-99B1-3CE81FE3675B}" srcId="{E5436F11-0E8F-45F2-9893-A2768DE68337}" destId="{D3142B15-A390-4FBE-98F1-D971C965B41D}" srcOrd="3" destOrd="0" parTransId="{E8D02D75-7D95-4563-B1E5-FC389FEF7438}" sibTransId="{0F5B7EBF-CD74-4F72-9679-429319582167}"/>
    <dgm:cxn modelId="{9CD36E46-98E5-402A-B268-C0688849DB97}" srcId="{E5436F11-0E8F-45F2-9893-A2768DE68337}" destId="{9551E275-C028-4DC1-881F-B41588A261AF}" srcOrd="1" destOrd="0" parTransId="{3234DA7F-CD80-4A0D-A985-F67142CE2C21}" sibTransId="{68F68ADD-A06F-4D37-8629-2D139B371C0A}"/>
    <dgm:cxn modelId="{ADE8D848-53B1-45B6-8E98-FFA8E2B3DD8B}" type="presOf" srcId="{F929A887-0905-4828-8C70-762203CE43C7}" destId="{2834E655-979A-416C-B8AF-6155D3635E0C}" srcOrd="0" destOrd="0" presId="urn:microsoft.com/office/officeart/2005/8/layout/hProcess7"/>
    <dgm:cxn modelId="{B257456C-2A0A-4CAC-B1C8-7799B3582FB7}" type="presOf" srcId="{CBF6087F-AA29-4E9F-9288-5C5CB7150935}" destId="{FBDE6EB2-A9AF-4CEE-8A72-1A72E46DE7CE}" srcOrd="0" destOrd="0" presId="urn:microsoft.com/office/officeart/2005/8/layout/hProcess7"/>
    <dgm:cxn modelId="{6B548C4C-57CD-41BD-BBAF-D667DE942715}" type="presOf" srcId="{7EF36473-2A77-4464-B641-8C1102B7F469}" destId="{40D5431D-8639-4139-8063-5EB034D9181C}" srcOrd="0" destOrd="0" presId="urn:microsoft.com/office/officeart/2005/8/layout/hProcess7"/>
    <dgm:cxn modelId="{6F24936E-452F-4AA8-9B08-EE49193AC12D}" srcId="{F929A887-0905-4828-8C70-762203CE43C7}" destId="{73223839-A812-4D19-A68F-5CD58B5828D0}" srcOrd="3" destOrd="0" parTransId="{02630EA5-0DE7-4C03-B267-993CCDCB2701}" sibTransId="{76CBA81F-2E10-46FB-83DE-417DFE576B5E}"/>
    <dgm:cxn modelId="{DA76EE70-4441-4FC6-8186-282A74D09D77}" type="presOf" srcId="{A300E86C-EF49-44C1-A0D8-7088CE15ADD9}" destId="{40D5431D-8639-4139-8063-5EB034D9181C}" srcOrd="0" destOrd="2" presId="urn:microsoft.com/office/officeart/2005/8/layout/hProcess7"/>
    <dgm:cxn modelId="{5C856451-F304-4A13-B411-038EC71D0B36}" srcId="{9722A544-9857-4253-9452-FCE0B1CA07F4}" destId="{7EF36473-2A77-4464-B641-8C1102B7F469}" srcOrd="0" destOrd="0" parTransId="{2CE4E804-7DD1-4699-AF4D-C3A3E5CE65D9}" sibTransId="{8F4D80FB-336E-4414-99FC-75FAFF1665B0}"/>
    <dgm:cxn modelId="{F1565371-2440-43F0-B308-CA3ABEA061F9}" srcId="{9722A544-9857-4253-9452-FCE0B1CA07F4}" destId="{F8E1A715-74D1-4932-9717-226A4B476A3D}" srcOrd="3" destOrd="0" parTransId="{CC5567A0-9CB1-4E8A-B7A7-530BDD8C9892}" sibTransId="{7A2379BF-4E7C-421C-ABA5-A834A01687E8}"/>
    <dgm:cxn modelId="{5F887457-7932-4F9C-90C1-187D3170435E}" srcId="{F929A887-0905-4828-8C70-762203CE43C7}" destId="{1A2C1AB6-BA92-439E-96F6-4E2B48945DF9}" srcOrd="0" destOrd="0" parTransId="{98CA9074-724B-4B10-85F6-3CFC463E1B22}" sibTransId="{8D74A2F6-56E3-4403-AFE9-35CBF01A138B}"/>
    <dgm:cxn modelId="{ED06A57D-29E3-487B-AF3E-BA9F8DD35F3C}" type="presOf" srcId="{8D3E94F8-2DFC-46D5-93EB-07F14814279C}" destId="{FBDE6EB2-A9AF-4CEE-8A72-1A72E46DE7CE}" srcOrd="0" destOrd="1" presId="urn:microsoft.com/office/officeart/2005/8/layout/hProcess7"/>
    <dgm:cxn modelId="{2242D07E-01C3-42B4-B0B0-1DCC407F0F3F}" type="presOf" srcId="{1A4E2F9D-8F85-48D8-A0E5-AE8D117EC092}" destId="{8F8D7CB4-6A27-4896-8D2A-806D19475C97}" srcOrd="0" destOrd="1" presId="urn:microsoft.com/office/officeart/2005/8/layout/hProcess7"/>
    <dgm:cxn modelId="{8950EC80-7957-47FC-AD04-6E43D8A8F7FE}" type="presOf" srcId="{8EDC59F5-21D5-4B2C-AA77-DE08295F3539}" destId="{223607CA-E7D2-4B3F-B66B-49E7FA110F7D}" srcOrd="1" destOrd="0" presId="urn:microsoft.com/office/officeart/2005/8/layout/hProcess7"/>
    <dgm:cxn modelId="{AD0A5784-CBB3-4C82-A9EA-E2087E44B1E4}" type="presOf" srcId="{73223839-A812-4D19-A68F-5CD58B5828D0}" destId="{8F8D7CB4-6A27-4896-8D2A-806D19475C97}" srcOrd="0" destOrd="3" presId="urn:microsoft.com/office/officeart/2005/8/layout/hProcess7"/>
    <dgm:cxn modelId="{566F0988-2BC5-4D22-B51F-08E956526FD7}" srcId="{8EDC59F5-21D5-4B2C-AA77-DE08295F3539}" destId="{8D3E94F8-2DFC-46D5-93EB-07F14814279C}" srcOrd="1" destOrd="0" parTransId="{9FA5317B-79D1-454B-B1BF-FC85EA94A8AB}" sibTransId="{41B10304-75E7-4AE8-87EA-F793A15F5442}"/>
    <dgm:cxn modelId="{6E66F791-A12C-40A3-9FF0-FA80F5AB1963}" srcId="{9722A544-9857-4253-9452-FCE0B1CA07F4}" destId="{83FA7126-4D55-444A-A399-5DB78A5A0103}" srcOrd="4" destOrd="0" parTransId="{8A99CA40-6D35-4283-8BC0-0593A629D1E4}" sibTransId="{BCF010B1-B850-46D6-B2B7-888E16CBF5A7}"/>
    <dgm:cxn modelId="{7ECD6992-357E-4E78-8964-878B99DCB160}" type="presOf" srcId="{E5436F11-0E8F-45F2-9893-A2768DE68337}" destId="{756CF36D-BA41-4931-959B-216F84A26974}" srcOrd="1" destOrd="0" presId="urn:microsoft.com/office/officeart/2005/8/layout/hProcess7"/>
    <dgm:cxn modelId="{FCBB8996-985F-4E0D-811F-09C26DACC7FD}" srcId="{854E6123-BA28-4E88-B10C-CBFA82CEA5EB}" destId="{E5436F11-0E8F-45F2-9893-A2768DE68337}" srcOrd="1" destOrd="0" parTransId="{7D697627-A87B-47A8-AE83-F6FC92F444CF}" sibTransId="{823B452D-F2E7-49B6-A1D7-562A4A7BCAE5}"/>
    <dgm:cxn modelId="{23474197-79CA-48B9-A7E8-3460FB61A31F}" type="presOf" srcId="{A5BABD61-63F7-4C43-9FCB-ADCEB721582A}" destId="{8F8D7CB4-6A27-4896-8D2A-806D19475C97}" srcOrd="0" destOrd="2" presId="urn:microsoft.com/office/officeart/2005/8/layout/hProcess7"/>
    <dgm:cxn modelId="{66A42F9B-D831-4545-B10F-D15969D48C86}" srcId="{F929A887-0905-4828-8C70-762203CE43C7}" destId="{2031F269-27FC-4F9B-B7A9-C9C223431367}" srcOrd="4" destOrd="0" parTransId="{42B9D3E5-853A-4B3C-9765-8B77106FFFE7}" sibTransId="{B7B8659B-0679-453A-A1F0-1BDD7167980C}"/>
    <dgm:cxn modelId="{4C7E21A7-75F9-4F11-8A58-A7491F5FF8B8}" type="presOf" srcId="{F5BA8C82-AD42-491E-B23C-B9203CE37435}" destId="{49CDC726-4229-40E9-9466-BA921377E5C3}" srcOrd="0" destOrd="0" presId="urn:microsoft.com/office/officeart/2005/8/layout/hProcess7"/>
    <dgm:cxn modelId="{337C07A9-0EB0-43D5-87F3-40CF767AEEAD}" type="presOf" srcId="{8EDC59F5-21D5-4B2C-AA77-DE08295F3539}" destId="{CCC7F9A1-0A4B-4F5D-9D74-7DAEACD249AF}" srcOrd="0" destOrd="0" presId="urn:microsoft.com/office/officeart/2005/8/layout/hProcess7"/>
    <dgm:cxn modelId="{82FC50B5-C80E-4F55-8BBB-74F93E740227}" srcId="{E5436F11-0E8F-45F2-9893-A2768DE68337}" destId="{BAF5CFE7-33E5-4D00-BA66-EBC6FCF6962C}" srcOrd="2" destOrd="0" parTransId="{7AC0AAF3-97A6-4978-BA08-E1E86F901293}" sibTransId="{E2229060-FFE6-46C8-81AE-B3FC38FB9907}"/>
    <dgm:cxn modelId="{DA2F77B8-CDEF-4078-8C11-66751605CEB6}" type="presOf" srcId="{773C8374-F312-4471-A7CE-B6B459F657B6}" destId="{FBDE6EB2-A9AF-4CEE-8A72-1A72E46DE7CE}" srcOrd="0" destOrd="3" presId="urn:microsoft.com/office/officeart/2005/8/layout/hProcess7"/>
    <dgm:cxn modelId="{7764C2BF-E6FC-498E-A18B-BBAFE99B81D6}" type="presOf" srcId="{9722A544-9857-4253-9452-FCE0B1CA07F4}" destId="{F00923D3-B2EC-4D15-9480-6960EDA1563C}" srcOrd="1" destOrd="0" presId="urn:microsoft.com/office/officeart/2005/8/layout/hProcess7"/>
    <dgm:cxn modelId="{9DEC80C4-14D8-4BA7-A503-DAE036A39F96}" type="presOf" srcId="{BAF5CFE7-33E5-4D00-BA66-EBC6FCF6962C}" destId="{49CDC726-4229-40E9-9466-BA921377E5C3}" srcOrd="0" destOrd="2" presId="urn:microsoft.com/office/officeart/2005/8/layout/hProcess7"/>
    <dgm:cxn modelId="{DF8D81C7-D9B6-48A5-8B98-F3D7C09B5EB3}" type="presOf" srcId="{83FA7126-4D55-444A-A399-5DB78A5A0103}" destId="{40D5431D-8639-4139-8063-5EB034D9181C}" srcOrd="0" destOrd="4" presId="urn:microsoft.com/office/officeart/2005/8/layout/hProcess7"/>
    <dgm:cxn modelId="{3970B0CD-1CA6-4158-A5F0-EC4D709B13A3}" type="presOf" srcId="{1A2C1AB6-BA92-439E-96F6-4E2B48945DF9}" destId="{8F8D7CB4-6A27-4896-8D2A-806D19475C97}" srcOrd="0" destOrd="0" presId="urn:microsoft.com/office/officeart/2005/8/layout/hProcess7"/>
    <dgm:cxn modelId="{72AF5CCE-B91E-4F3C-B9B1-9A4FB76B172D}" srcId="{854E6123-BA28-4E88-B10C-CBFA82CEA5EB}" destId="{F929A887-0905-4828-8C70-762203CE43C7}" srcOrd="3" destOrd="0" parTransId="{9DD2A9EC-87BE-4F8B-844F-BDD113C36546}" sibTransId="{30512E58-B77F-4AD8-B8F0-6091A6F22A66}"/>
    <dgm:cxn modelId="{6ABC86D1-0877-4E1E-B857-24E166B7DAE0}" srcId="{9722A544-9857-4253-9452-FCE0B1CA07F4}" destId="{A300E86C-EF49-44C1-A0D8-7088CE15ADD9}" srcOrd="2" destOrd="0" parTransId="{D1313650-39BE-4532-8CE8-1F5D13F58BC9}" sibTransId="{319DBC1D-7CF8-47A2-A6CC-0A23E97605D3}"/>
    <dgm:cxn modelId="{683787D7-872D-4013-A808-AFABD9FE4305}" srcId="{8EDC59F5-21D5-4B2C-AA77-DE08295F3539}" destId="{9088DEC1-FD54-4A01-B8AE-40E147BF59F8}" srcOrd="2" destOrd="0" parTransId="{7B548BE5-D98F-41AB-847B-1A81A1C06594}" sibTransId="{92F0002F-B43B-421A-99C0-F3A4C9E24C68}"/>
    <dgm:cxn modelId="{D3F499DC-ADB5-4F21-944E-82D341CA9BC0}" type="presOf" srcId="{7688179D-D617-42CC-9A7D-FC067377FD96}" destId="{40D5431D-8639-4139-8063-5EB034D9181C}" srcOrd="0" destOrd="1" presId="urn:microsoft.com/office/officeart/2005/8/layout/hProcess7"/>
    <dgm:cxn modelId="{F02357DD-DE75-4AE3-A307-393BF6E3DAD9}" srcId="{9722A544-9857-4253-9452-FCE0B1CA07F4}" destId="{7688179D-D617-42CC-9A7D-FC067377FD96}" srcOrd="1" destOrd="0" parTransId="{6B5B4B9C-FC84-4E1B-8CC9-D22D985DFD33}" sibTransId="{EAB441FA-84B0-4FDE-8339-E9F1AE0AE742}"/>
    <dgm:cxn modelId="{4BC86ADE-9DF3-4C84-BCA3-B4A3DF08A9E7}" type="presOf" srcId="{D3142B15-A390-4FBE-98F1-D971C965B41D}" destId="{49CDC726-4229-40E9-9466-BA921377E5C3}" srcOrd="0" destOrd="3" presId="urn:microsoft.com/office/officeart/2005/8/layout/hProcess7"/>
    <dgm:cxn modelId="{79F967E0-F567-4516-A47A-7B2091F24F83}" srcId="{F929A887-0905-4828-8C70-762203CE43C7}" destId="{A5BABD61-63F7-4C43-9FCB-ADCEB721582A}" srcOrd="2" destOrd="0" parTransId="{C8E25908-DCD6-4324-B2F4-D9C86AC5D279}" sibTransId="{B98CF75E-7CB1-477D-8D80-DD6534004492}"/>
    <dgm:cxn modelId="{52F63487-8BC0-4673-9175-A0A2FF0E0786}" type="presParOf" srcId="{729EEC41-5D31-4C01-92DF-88095825192A}" destId="{9D687136-6917-429A-B622-E27BA26A3445}" srcOrd="0" destOrd="0" presId="urn:microsoft.com/office/officeart/2005/8/layout/hProcess7"/>
    <dgm:cxn modelId="{854A9EB5-280F-4E91-9F2D-6369861DB0C2}" type="presParOf" srcId="{9D687136-6917-429A-B622-E27BA26A3445}" destId="{CCC7F9A1-0A4B-4F5D-9D74-7DAEACD249AF}" srcOrd="0" destOrd="0" presId="urn:microsoft.com/office/officeart/2005/8/layout/hProcess7"/>
    <dgm:cxn modelId="{694C1678-2DD0-489B-B860-1FA862038529}" type="presParOf" srcId="{9D687136-6917-429A-B622-E27BA26A3445}" destId="{223607CA-E7D2-4B3F-B66B-49E7FA110F7D}" srcOrd="1" destOrd="0" presId="urn:microsoft.com/office/officeart/2005/8/layout/hProcess7"/>
    <dgm:cxn modelId="{D5E7BD3B-D77C-4448-B101-FBB53E23CA8F}" type="presParOf" srcId="{9D687136-6917-429A-B622-E27BA26A3445}" destId="{FBDE6EB2-A9AF-4CEE-8A72-1A72E46DE7CE}" srcOrd="2" destOrd="0" presId="urn:microsoft.com/office/officeart/2005/8/layout/hProcess7"/>
    <dgm:cxn modelId="{E9737D1D-BE9C-4B21-8BA8-EB709BE68FD0}" type="presParOf" srcId="{729EEC41-5D31-4C01-92DF-88095825192A}" destId="{6C73B481-EEF7-4372-B3A3-CE390C4E84E6}" srcOrd="1" destOrd="0" presId="urn:microsoft.com/office/officeart/2005/8/layout/hProcess7"/>
    <dgm:cxn modelId="{0E88A908-3F6B-4C45-AF87-E38AAA9D6268}" type="presParOf" srcId="{729EEC41-5D31-4C01-92DF-88095825192A}" destId="{BE3AE234-5B04-42DE-8DB7-A755135BEB81}" srcOrd="2" destOrd="0" presId="urn:microsoft.com/office/officeart/2005/8/layout/hProcess7"/>
    <dgm:cxn modelId="{96110CC6-8745-435C-B636-772D2B641E98}" type="presParOf" srcId="{BE3AE234-5B04-42DE-8DB7-A755135BEB81}" destId="{315A0497-AB11-4B08-B6CE-53EAE063C93F}" srcOrd="0" destOrd="0" presId="urn:microsoft.com/office/officeart/2005/8/layout/hProcess7"/>
    <dgm:cxn modelId="{0ECE422A-7C95-4060-9DDF-319C90B69DD2}" type="presParOf" srcId="{BE3AE234-5B04-42DE-8DB7-A755135BEB81}" destId="{443051F4-ED21-4EBF-9EC7-94763003D3C9}" srcOrd="1" destOrd="0" presId="urn:microsoft.com/office/officeart/2005/8/layout/hProcess7"/>
    <dgm:cxn modelId="{CE3DFC31-D7B9-4538-83B2-086E94F4D381}" type="presParOf" srcId="{BE3AE234-5B04-42DE-8DB7-A755135BEB81}" destId="{760B901E-9404-4EE2-9961-E38536C801F4}" srcOrd="2" destOrd="0" presId="urn:microsoft.com/office/officeart/2005/8/layout/hProcess7"/>
    <dgm:cxn modelId="{591EEE57-09C1-41F6-B022-FF9CFBD2B20E}" type="presParOf" srcId="{729EEC41-5D31-4C01-92DF-88095825192A}" destId="{55BBC29F-C0A8-4780-BA5F-320E8BD92C36}" srcOrd="3" destOrd="0" presId="urn:microsoft.com/office/officeart/2005/8/layout/hProcess7"/>
    <dgm:cxn modelId="{D3335A6D-FAAD-46F4-BB85-3A57A3A50744}" type="presParOf" srcId="{729EEC41-5D31-4C01-92DF-88095825192A}" destId="{351F2FFD-3698-4462-A814-0534AC7EA9E4}" srcOrd="4" destOrd="0" presId="urn:microsoft.com/office/officeart/2005/8/layout/hProcess7"/>
    <dgm:cxn modelId="{5A1D8135-CD3C-45AC-882A-E72F4A904481}" type="presParOf" srcId="{351F2FFD-3698-4462-A814-0534AC7EA9E4}" destId="{51266D37-3A61-415C-8ED1-11E3BBB9525C}" srcOrd="0" destOrd="0" presId="urn:microsoft.com/office/officeart/2005/8/layout/hProcess7"/>
    <dgm:cxn modelId="{E4CDF48E-8245-4C3C-BCF9-7ADA635F13B4}" type="presParOf" srcId="{351F2FFD-3698-4462-A814-0534AC7EA9E4}" destId="{756CF36D-BA41-4931-959B-216F84A26974}" srcOrd="1" destOrd="0" presId="urn:microsoft.com/office/officeart/2005/8/layout/hProcess7"/>
    <dgm:cxn modelId="{46300D34-3711-4CD6-A9A1-2EEA39EC2151}" type="presParOf" srcId="{351F2FFD-3698-4462-A814-0534AC7EA9E4}" destId="{49CDC726-4229-40E9-9466-BA921377E5C3}" srcOrd="2" destOrd="0" presId="urn:microsoft.com/office/officeart/2005/8/layout/hProcess7"/>
    <dgm:cxn modelId="{FCA19B49-31C9-489B-98FD-B728DA8A32ED}" type="presParOf" srcId="{729EEC41-5D31-4C01-92DF-88095825192A}" destId="{ACB19987-4BD0-465D-AF8B-1711C81AF9B0}" srcOrd="5" destOrd="0" presId="urn:microsoft.com/office/officeart/2005/8/layout/hProcess7"/>
    <dgm:cxn modelId="{BEAEE327-2FB1-47AD-8A5D-CE3AFEC1C566}" type="presParOf" srcId="{729EEC41-5D31-4C01-92DF-88095825192A}" destId="{75DE1B48-ADDB-4A33-9402-6AFDD208B6F5}" srcOrd="6" destOrd="0" presId="urn:microsoft.com/office/officeart/2005/8/layout/hProcess7"/>
    <dgm:cxn modelId="{52923EBB-DE70-4636-BD97-A5E4F1229B8A}" type="presParOf" srcId="{75DE1B48-ADDB-4A33-9402-6AFDD208B6F5}" destId="{FF04E84E-F2BE-4DCB-AA82-10C12689BBB8}" srcOrd="0" destOrd="0" presId="urn:microsoft.com/office/officeart/2005/8/layout/hProcess7"/>
    <dgm:cxn modelId="{26E362DA-E900-44F0-8D27-E27D0AE9F7C3}" type="presParOf" srcId="{75DE1B48-ADDB-4A33-9402-6AFDD208B6F5}" destId="{9DFF8F47-47C2-4FB8-B899-D491DBD9B175}" srcOrd="1" destOrd="0" presId="urn:microsoft.com/office/officeart/2005/8/layout/hProcess7"/>
    <dgm:cxn modelId="{074456FA-9C0A-48D8-8EF7-282BAD50EDDC}" type="presParOf" srcId="{75DE1B48-ADDB-4A33-9402-6AFDD208B6F5}" destId="{3C3A3D1D-288D-4661-8933-75B12A581195}" srcOrd="2" destOrd="0" presId="urn:microsoft.com/office/officeart/2005/8/layout/hProcess7"/>
    <dgm:cxn modelId="{FB11D4AA-5EB8-4E06-85B2-BD29D8527C1E}" type="presParOf" srcId="{729EEC41-5D31-4C01-92DF-88095825192A}" destId="{4B938323-F65B-4758-8E1F-D8170D60FCE8}" srcOrd="7" destOrd="0" presId="urn:microsoft.com/office/officeart/2005/8/layout/hProcess7"/>
    <dgm:cxn modelId="{BB24BB31-8503-4E19-A0BE-A6101BE2F8E7}" type="presParOf" srcId="{729EEC41-5D31-4C01-92DF-88095825192A}" destId="{D01ABD75-D6C2-44E6-A30E-CDF2ABF2015D}" srcOrd="8" destOrd="0" presId="urn:microsoft.com/office/officeart/2005/8/layout/hProcess7"/>
    <dgm:cxn modelId="{FBF57582-2DB2-45B7-8281-20790FE2B3D2}" type="presParOf" srcId="{D01ABD75-D6C2-44E6-A30E-CDF2ABF2015D}" destId="{712DD4EE-A63F-4FFE-97B9-DA227691707A}" srcOrd="0" destOrd="0" presId="urn:microsoft.com/office/officeart/2005/8/layout/hProcess7"/>
    <dgm:cxn modelId="{8F5FFABB-5C81-4DE8-8AD6-C904064E1205}" type="presParOf" srcId="{D01ABD75-D6C2-44E6-A30E-CDF2ABF2015D}" destId="{F00923D3-B2EC-4D15-9480-6960EDA1563C}" srcOrd="1" destOrd="0" presId="urn:microsoft.com/office/officeart/2005/8/layout/hProcess7"/>
    <dgm:cxn modelId="{33A3017E-C305-4AEC-B4C2-13E8A10BCD82}" type="presParOf" srcId="{D01ABD75-D6C2-44E6-A30E-CDF2ABF2015D}" destId="{40D5431D-8639-4139-8063-5EB034D9181C}" srcOrd="2" destOrd="0" presId="urn:microsoft.com/office/officeart/2005/8/layout/hProcess7"/>
    <dgm:cxn modelId="{380BCB58-66FC-469C-A499-6C318545D91E}" type="presParOf" srcId="{729EEC41-5D31-4C01-92DF-88095825192A}" destId="{CBBC4FAB-4C45-4B78-8DBA-3C73FAB464AA}" srcOrd="9" destOrd="0" presId="urn:microsoft.com/office/officeart/2005/8/layout/hProcess7"/>
    <dgm:cxn modelId="{59E7B67A-11B8-4C2D-9821-60D8C8334C04}" type="presParOf" srcId="{729EEC41-5D31-4C01-92DF-88095825192A}" destId="{84B42D2B-CDFD-4B8C-9613-924089FC148A}" srcOrd="10" destOrd="0" presId="urn:microsoft.com/office/officeart/2005/8/layout/hProcess7"/>
    <dgm:cxn modelId="{3117F764-A9A6-4136-ACFC-5123DBD2F6FD}" type="presParOf" srcId="{84B42D2B-CDFD-4B8C-9613-924089FC148A}" destId="{A4EABD1A-EB80-4867-AC8D-6F7B4305428A}" srcOrd="0" destOrd="0" presId="urn:microsoft.com/office/officeart/2005/8/layout/hProcess7"/>
    <dgm:cxn modelId="{F77877DF-3368-4F32-9579-AB87C1D9BC77}" type="presParOf" srcId="{84B42D2B-CDFD-4B8C-9613-924089FC148A}" destId="{E94C3669-AA37-46EB-85A4-D73E0B5C3D89}" srcOrd="1" destOrd="0" presId="urn:microsoft.com/office/officeart/2005/8/layout/hProcess7"/>
    <dgm:cxn modelId="{EEDE17D3-B1E0-4375-A6A1-4EB5884A6BF4}" type="presParOf" srcId="{84B42D2B-CDFD-4B8C-9613-924089FC148A}" destId="{98F967AC-8A14-46A3-A018-1DAF47997C0A}" srcOrd="2" destOrd="0" presId="urn:microsoft.com/office/officeart/2005/8/layout/hProcess7"/>
    <dgm:cxn modelId="{01CF3421-6BCD-4FF9-A59D-C9AC2D1FD720}" type="presParOf" srcId="{729EEC41-5D31-4C01-92DF-88095825192A}" destId="{FA5AA59A-D052-4E01-96CB-D404D5062249}" srcOrd="11" destOrd="0" presId="urn:microsoft.com/office/officeart/2005/8/layout/hProcess7"/>
    <dgm:cxn modelId="{3C74FDDB-3E67-47EB-BD12-21E83092C7AA}" type="presParOf" srcId="{729EEC41-5D31-4C01-92DF-88095825192A}" destId="{C0DFD20B-96E7-4AD4-8F12-D593CE6077D1}" srcOrd="12" destOrd="0" presId="urn:microsoft.com/office/officeart/2005/8/layout/hProcess7"/>
    <dgm:cxn modelId="{ABC0C529-EE32-4313-AA16-698836C222E3}" type="presParOf" srcId="{C0DFD20B-96E7-4AD4-8F12-D593CE6077D1}" destId="{2834E655-979A-416C-B8AF-6155D3635E0C}" srcOrd="0" destOrd="0" presId="urn:microsoft.com/office/officeart/2005/8/layout/hProcess7"/>
    <dgm:cxn modelId="{651209A5-019B-4D50-B310-1F32E608904E}" type="presParOf" srcId="{C0DFD20B-96E7-4AD4-8F12-D593CE6077D1}" destId="{F86235DA-5FB5-439B-A10F-0493690D7096}" srcOrd="1" destOrd="0" presId="urn:microsoft.com/office/officeart/2005/8/layout/hProcess7"/>
    <dgm:cxn modelId="{C2103D5D-D03F-4AC3-A0B3-8268E232D131}" type="presParOf" srcId="{C0DFD20B-96E7-4AD4-8F12-D593CE6077D1}" destId="{8F8D7CB4-6A27-4896-8D2A-806D19475C97}" srcOrd="2" destOrd="0" presId="urn:microsoft.com/office/officeart/2005/8/layout/hProcess7"/>
  </dgm:cxnLst>
  <dgm:bg/>
  <dgm:whole>
    <a:ln>
      <a:solidFill>
        <a:srgbClr val="F6F9FC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7F9A1-0A4B-4F5D-9D74-7DAEACD249AF}">
      <dsp:nvSpPr>
        <dsp:cNvPr id="0" name=""/>
        <dsp:cNvSpPr/>
      </dsp:nvSpPr>
      <dsp:spPr>
        <a:xfrm>
          <a:off x="0" y="1256025"/>
          <a:ext cx="4436440" cy="2673634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68021" rIns="217805" bIns="0" numCol="1" spcCol="1270" anchor="t" anchorCtr="0">
          <a:noAutofit/>
        </a:bodyPr>
        <a:lstStyle/>
        <a:p>
          <a:pPr marL="0" lvl="0" indent="0" algn="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900" kern="1200" dirty="0">
            <a:solidFill>
              <a:schemeClr val="tx1"/>
            </a:solidFill>
          </a:endParaRPr>
        </a:p>
      </dsp:txBody>
      <dsp:txXfrm rot="16200000">
        <a:off x="-652546" y="1908571"/>
        <a:ext cx="2192380" cy="887288"/>
      </dsp:txXfrm>
    </dsp:sp>
    <dsp:sp modelId="{FBDE6EB2-A9AF-4CEE-8A72-1A72E46DE7CE}">
      <dsp:nvSpPr>
        <dsp:cNvPr id="0" name=""/>
        <dsp:cNvSpPr/>
      </dsp:nvSpPr>
      <dsp:spPr>
        <a:xfrm>
          <a:off x="759151" y="1256025"/>
          <a:ext cx="3305148" cy="2673634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Revenue Model</a:t>
          </a:r>
          <a:endParaRPr lang="en-IN" sz="2400" b="1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 </a:t>
          </a:r>
          <a:r>
            <a:rPr lang="en-IN" sz="2000" kern="1200"/>
            <a:t>Subscription based on usage (EPS)</a:t>
          </a:r>
          <a:endParaRPr lang="en-IN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On-premise licenses + annual maintenance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 Paid add-ons (MITRE &amp; CVE intelligence)</a:t>
          </a:r>
        </a:p>
      </dsp:txBody>
      <dsp:txXfrm>
        <a:off x="759151" y="1256025"/>
        <a:ext cx="3305148" cy="2673634"/>
      </dsp:txXfrm>
    </dsp:sp>
    <dsp:sp modelId="{51266D37-3A61-415C-8ED1-11E3BBB9525C}">
      <dsp:nvSpPr>
        <dsp:cNvPr id="0" name=""/>
        <dsp:cNvSpPr/>
      </dsp:nvSpPr>
      <dsp:spPr>
        <a:xfrm>
          <a:off x="4476538" y="1311274"/>
          <a:ext cx="4601359" cy="2618385"/>
        </a:xfrm>
        <a:prstGeom prst="roundRect">
          <a:avLst>
            <a:gd name="adj" fmla="val 5000"/>
          </a:avLst>
        </a:prstGeom>
        <a:solidFill>
          <a:schemeClr val="tx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68021" rIns="217805" bIns="0" numCol="1" spcCol="1270" anchor="t" anchorCtr="0">
          <a:noAutofit/>
        </a:bodyPr>
        <a:lstStyle/>
        <a:p>
          <a:pPr marL="0" lvl="0" indent="0" algn="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900" kern="1200" dirty="0">
            <a:solidFill>
              <a:schemeClr val="tx1"/>
            </a:solidFill>
          </a:endParaRPr>
        </a:p>
      </dsp:txBody>
      <dsp:txXfrm rot="16200000">
        <a:off x="3863135" y="1924676"/>
        <a:ext cx="2147076" cy="920271"/>
      </dsp:txXfrm>
    </dsp:sp>
    <dsp:sp modelId="{443051F4-ED21-4EBF-9EC7-94763003D3C9}">
      <dsp:nvSpPr>
        <dsp:cNvPr id="0" name=""/>
        <dsp:cNvSpPr/>
      </dsp:nvSpPr>
      <dsp:spPr>
        <a:xfrm rot="20561853" flipH="1" flipV="1">
          <a:off x="17814581" y="302652"/>
          <a:ext cx="447527" cy="21103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CDC726-4229-40E9-9466-BA921377E5C3}">
      <dsp:nvSpPr>
        <dsp:cNvPr id="0" name=""/>
        <dsp:cNvSpPr/>
      </dsp:nvSpPr>
      <dsp:spPr>
        <a:xfrm>
          <a:off x="5256716" y="1311274"/>
          <a:ext cx="3428013" cy="2618385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Target Customers</a:t>
          </a:r>
          <a:endParaRPr lang="en-IN" sz="24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Managed Security Service Providers (MSSPs)</a:t>
          </a:r>
          <a:endParaRPr lang="en-IN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Mid-sized companies (200–2000 employees)</a:t>
          </a:r>
          <a:endParaRPr lang="en-IN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 Government &amp; defense (secure on-premise needs)</a:t>
          </a:r>
          <a:endParaRPr lang="en-IN" sz="2000" kern="1200" dirty="0"/>
        </a:p>
      </dsp:txBody>
      <dsp:txXfrm>
        <a:off x="5256716" y="1311274"/>
        <a:ext cx="3428013" cy="2618385"/>
      </dsp:txXfrm>
    </dsp:sp>
    <dsp:sp modelId="{712DD4EE-A63F-4FFE-97B9-DA227691707A}">
      <dsp:nvSpPr>
        <dsp:cNvPr id="0" name=""/>
        <dsp:cNvSpPr/>
      </dsp:nvSpPr>
      <dsp:spPr>
        <a:xfrm>
          <a:off x="9145291" y="1263840"/>
          <a:ext cx="4425176" cy="266581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71450" rIns="222250" bIns="0" numCol="1" spcCol="1270" anchor="t" anchorCtr="0">
          <a:noAutofit/>
        </a:bodyPr>
        <a:lstStyle/>
        <a:p>
          <a:pPr marL="0" lvl="0" indent="0" algn="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/>
            <a:t>  </a:t>
          </a:r>
          <a:endParaRPr lang="en-IN" sz="5000" kern="1200" dirty="0"/>
        </a:p>
      </dsp:txBody>
      <dsp:txXfrm rot="16200000">
        <a:off x="8494822" y="1914308"/>
        <a:ext cx="2185972" cy="885035"/>
      </dsp:txXfrm>
    </dsp:sp>
    <dsp:sp modelId="{9DFF8F47-47C2-4FB8-B899-D491DBD9B175}">
      <dsp:nvSpPr>
        <dsp:cNvPr id="0" name=""/>
        <dsp:cNvSpPr/>
      </dsp:nvSpPr>
      <dsp:spPr>
        <a:xfrm rot="5400000">
          <a:off x="17785108" y="191194"/>
          <a:ext cx="470628" cy="40035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0D5431D-8639-4139-8063-5EB034D9181C}">
      <dsp:nvSpPr>
        <dsp:cNvPr id="0" name=""/>
        <dsp:cNvSpPr/>
      </dsp:nvSpPr>
      <dsp:spPr>
        <a:xfrm>
          <a:off x="9903005" y="1263840"/>
          <a:ext cx="3296756" cy="2665819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Market Opportunity</a:t>
          </a:r>
          <a:endParaRPr lang="en-IN" sz="24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SIEM market growing to $9.5B by 2028</a:t>
          </a:r>
          <a:endParaRPr lang="en-IN" sz="20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60% of SMBs face security incidents</a:t>
          </a:r>
          <a:endParaRPr lang="en-IN" sz="20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Rising need for automated threat detection</a:t>
          </a:r>
          <a:endParaRPr lang="en-IN" sz="2000" b="1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b="1" kern="1200" dirty="0">
            <a:solidFill>
              <a:schemeClr val="tx1"/>
            </a:solidFill>
          </a:endParaRPr>
        </a:p>
      </dsp:txBody>
      <dsp:txXfrm>
        <a:off x="9903005" y="1263840"/>
        <a:ext cx="3296756" cy="2665819"/>
      </dsp:txXfrm>
    </dsp:sp>
    <dsp:sp modelId="{2834E655-979A-416C-B8AF-6155D3635E0C}">
      <dsp:nvSpPr>
        <dsp:cNvPr id="0" name=""/>
        <dsp:cNvSpPr/>
      </dsp:nvSpPr>
      <dsp:spPr>
        <a:xfrm>
          <a:off x="13659960" y="1216841"/>
          <a:ext cx="4453495" cy="2690353"/>
        </a:xfrm>
        <a:prstGeom prst="roundRect">
          <a:avLst>
            <a:gd name="adj" fmla="val 5000"/>
          </a:avLst>
        </a:prstGeom>
        <a:solidFill>
          <a:schemeClr val="tx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b="1" kern="1200" dirty="0">
            <a:solidFill>
              <a:schemeClr val="tx1"/>
            </a:solidFill>
          </a:endParaRPr>
        </a:p>
      </dsp:txBody>
      <dsp:txXfrm rot="16200000">
        <a:off x="13002265" y="1874536"/>
        <a:ext cx="2206089" cy="890699"/>
      </dsp:txXfrm>
    </dsp:sp>
    <dsp:sp modelId="{E94C3669-AA37-46EB-85A4-D73E0B5C3D89}">
      <dsp:nvSpPr>
        <dsp:cNvPr id="0" name=""/>
        <dsp:cNvSpPr/>
      </dsp:nvSpPr>
      <dsp:spPr>
        <a:xfrm rot="5400000">
          <a:off x="17785108" y="142967"/>
          <a:ext cx="470628" cy="40035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F8D7CB4-6A27-4896-8D2A-806D19475C97}">
      <dsp:nvSpPr>
        <dsp:cNvPr id="0" name=""/>
        <dsp:cNvSpPr/>
      </dsp:nvSpPr>
      <dsp:spPr>
        <a:xfrm>
          <a:off x="14421286" y="1216841"/>
          <a:ext cx="3317854" cy="2690353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Growth Potential</a:t>
          </a:r>
          <a:endParaRPr lang="en-IN" sz="24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Expand to full XDR platform</a:t>
          </a:r>
          <a:endParaRPr lang="en-IN" sz="20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 Enter global markets (EMEA &amp; APAC)</a:t>
          </a:r>
          <a:endParaRPr lang="en-IN" sz="20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 Partner with AWS, Azure, GCP</a:t>
          </a:r>
          <a:endParaRPr lang="en-IN" sz="2000" b="1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b="1" kern="1200" dirty="0">
            <a:solidFill>
              <a:schemeClr val="tx1"/>
            </a:solidFill>
          </a:endParaRPr>
        </a:p>
      </dsp:txBody>
      <dsp:txXfrm>
        <a:off x="14421286" y="1216841"/>
        <a:ext cx="3317854" cy="2690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DA5B6-C527-457A-820C-DB94E347F485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4D834-BE47-4133-87B4-FAF4279074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64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D834-BE47-4133-87B4-FAF4279074C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91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D834-BE47-4133-87B4-FAF4279074C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6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3.jpeg"/><Relationship Id="rId5" Type="http://schemas.openxmlformats.org/officeDocument/2006/relationships/image" Target="../media/image3.svg"/><Relationship Id="rId15" Type="http://schemas.openxmlformats.org/officeDocument/2006/relationships/image" Target="../media/image17.jpe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3.svg"/><Relationship Id="rId7" Type="http://schemas.openxmlformats.org/officeDocument/2006/relationships/image" Target="../media/image18.jpeg"/><Relationship Id="rId12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2.jpeg"/><Relationship Id="rId5" Type="http://schemas.openxmlformats.org/officeDocument/2006/relationships/image" Target="../media/image1.png"/><Relationship Id="rId10" Type="http://schemas.openxmlformats.org/officeDocument/2006/relationships/image" Target="../media/image21.jpeg"/><Relationship Id="rId4" Type="http://schemas.openxmlformats.org/officeDocument/2006/relationships/image" Target="../media/image4.png"/><Relationship Id="rId9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6.png"/><Relationship Id="rId7" Type="http://schemas.openxmlformats.org/officeDocument/2006/relationships/diagramData" Target="../diagrams/data1.xml"/><Relationship Id="rId12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diagramDrawing" Target="../diagrams/drawing1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svg"/><Relationship Id="rId9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xios.com/2026/03/24/cybersecuritys-new-race-finding-the-crowdstrike-or-wiz-of-ai-security" TargetMode="External"/><Relationship Id="rId13" Type="http://schemas.openxmlformats.org/officeDocument/2006/relationships/hyperlink" Target="https://www.kaspersky.com/blog/it-security-economics-2024/" TargetMode="External"/><Relationship Id="rId18" Type="http://schemas.openxmlformats.org/officeDocument/2006/relationships/image" Target="../media/image4.png"/><Relationship Id="rId3" Type="http://schemas.openxmlformats.org/officeDocument/2006/relationships/hyperlink" Target="https://www.gartner.com/en/newsroom/press-releases/2025-09-18-gartner-says-that-in-the-age-of-genai-preemptive-capabilities-not-detection-and-response-are-the-future-of-cybersecurity" TargetMode="External"/><Relationship Id="rId7" Type="http://schemas.openxmlformats.org/officeDocument/2006/relationships/hyperlink" Target="https://www.sciencedirect.com/topics/computer-science/log-generation" TargetMode="External"/><Relationship Id="rId12" Type="http://schemas.openxmlformats.org/officeDocument/2006/relationships/hyperlink" Target="https://www.prnewswire.com/news-releases/modern-siem-market-to-reach-13-55-billion-by-2029--driven-by-ai-cloud-native-platforms-and-rising-cyber-threats-302688812.html" TargetMode="External"/><Relationship Id="rId17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5117/mab.99.149299" TargetMode="External"/><Relationship Id="rId11" Type="http://schemas.openxmlformats.org/officeDocument/2006/relationships/hyperlink" Target="https://doi.org/10.48550/arXiv.2508.01422" TargetMode="External"/><Relationship Id="rId5" Type="http://schemas.openxmlformats.org/officeDocument/2006/relationships/hyperlink" Target="https://doi.org/10.48550/arXiv.2408.01605" TargetMode="External"/><Relationship Id="rId15" Type="http://schemas.openxmlformats.org/officeDocument/2006/relationships/image" Target="../media/image1.png"/><Relationship Id="rId10" Type="http://schemas.openxmlformats.org/officeDocument/2006/relationships/hyperlink" Target="https://www.ibm.com/new/product-blog/ai-powered-threat-intelligence-predicting-cyber-attacks-before-they-happen" TargetMode="External"/><Relationship Id="rId19" Type="http://schemas.openxmlformats.org/officeDocument/2006/relationships/image" Target="../media/image5.png"/><Relationship Id="rId4" Type="http://schemas.openxmlformats.org/officeDocument/2006/relationships/hyperlink" Target="https://doi.org/10.1007/s10462-025-11285-9" TargetMode="External"/><Relationship Id="rId9" Type="http://schemas.openxmlformats.org/officeDocument/2006/relationships/hyperlink" Target="https://www.mordorintelligence.com/industry-reports/threat-intelligence-platforms-market" TargetMode="External"/><Relationship Id="rId14" Type="http://schemas.openxmlformats.org/officeDocument/2006/relationships/hyperlink" Target="https://docs.google.com/document/d/1-4L9qZv8BqVGHFtIryc64sBkpEs9NpSOIsQ7T1bQIq4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8405" y="3323336"/>
            <a:ext cx="9231747" cy="4935326"/>
          </a:xfrm>
          <a:custGeom>
            <a:avLst/>
            <a:gdLst/>
            <a:ahLst/>
            <a:cxnLst/>
            <a:rect l="l" t="t" r="r" b="b"/>
            <a:pathLst>
              <a:path w="9231747" h="4935326">
                <a:moveTo>
                  <a:pt x="0" y="0"/>
                </a:moveTo>
                <a:lnTo>
                  <a:pt x="9231746" y="0"/>
                </a:lnTo>
                <a:lnTo>
                  <a:pt x="9231746" y="4935326"/>
                </a:lnTo>
                <a:lnTo>
                  <a:pt x="0" y="493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727" b="-443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130164" y="1392478"/>
            <a:ext cx="8027673" cy="1630802"/>
          </a:xfrm>
          <a:custGeom>
            <a:avLst/>
            <a:gdLst/>
            <a:ahLst/>
            <a:cxnLst/>
            <a:rect l="l" t="t" r="r" b="b"/>
            <a:pathLst>
              <a:path w="8027673" h="1630802">
                <a:moveTo>
                  <a:pt x="0" y="0"/>
                </a:moveTo>
                <a:lnTo>
                  <a:pt x="8027672" y="0"/>
                </a:lnTo>
                <a:lnTo>
                  <a:pt x="8027672" y="1630802"/>
                </a:lnTo>
                <a:lnTo>
                  <a:pt x="0" y="163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85" b="-96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439333" y="8524710"/>
            <a:ext cx="3409334" cy="1114590"/>
          </a:xfrm>
          <a:custGeom>
            <a:avLst/>
            <a:gdLst/>
            <a:ahLst/>
            <a:cxnLst/>
            <a:rect l="l" t="t" r="r" b="b"/>
            <a:pathLst>
              <a:path w="3409334" h="1114590">
                <a:moveTo>
                  <a:pt x="0" y="0"/>
                </a:moveTo>
                <a:lnTo>
                  <a:pt x="3409334" y="0"/>
                </a:lnTo>
                <a:lnTo>
                  <a:pt x="3409334" y="1114589"/>
                </a:lnTo>
                <a:lnTo>
                  <a:pt x="0" y="1114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304392" y="990600"/>
            <a:ext cx="12023378" cy="29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7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(An Initiative of Government of India, Ministry of Finance , Department of Financial Services)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8924" y="339398"/>
            <a:ext cx="1451431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>
                <a:solidFill>
                  <a:srgbClr val="E92A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PSBs Hackathon Series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2906" y="2894674"/>
            <a:ext cx="2862189" cy="42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TT Interphases Mono"/>
                <a:ea typeface="TT Interphases Mono"/>
                <a:cs typeface="TT Interphases Mono"/>
                <a:sym typeface="TT Interphases Mono"/>
              </a:rPr>
              <a:t>PRESENTS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26561" y="1974068"/>
            <a:ext cx="15634878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TEAM DETAILS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76C167A-4B7F-91D2-994F-AE9A30256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749574"/>
              </p:ext>
            </p:extLst>
          </p:nvPr>
        </p:nvGraphicFramePr>
        <p:xfrm>
          <a:off x="626184" y="3238500"/>
          <a:ext cx="17035628" cy="616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016">
                  <a:extLst>
                    <a:ext uri="{9D8B030D-6E8A-4147-A177-3AD203B41FA5}">
                      <a16:colId xmlns:a16="http://schemas.microsoft.com/office/drawing/2014/main" val="1813726928"/>
                    </a:ext>
                  </a:extLst>
                </a:gridCol>
                <a:gridCol w="6019798">
                  <a:extLst>
                    <a:ext uri="{9D8B030D-6E8A-4147-A177-3AD203B41FA5}">
                      <a16:colId xmlns:a16="http://schemas.microsoft.com/office/drawing/2014/main" val="75420284"/>
                    </a:ext>
                  </a:extLst>
                </a:gridCol>
                <a:gridCol w="2667002">
                  <a:extLst>
                    <a:ext uri="{9D8B030D-6E8A-4147-A177-3AD203B41FA5}">
                      <a16:colId xmlns:a16="http://schemas.microsoft.com/office/drawing/2014/main" val="1555674278"/>
                    </a:ext>
                  </a:extLst>
                </a:gridCol>
                <a:gridCol w="5850812">
                  <a:extLst>
                    <a:ext uri="{9D8B030D-6E8A-4147-A177-3AD203B41FA5}">
                      <a16:colId xmlns:a16="http://schemas.microsoft.com/office/drawing/2014/main" val="3234338863"/>
                    </a:ext>
                  </a:extLst>
                </a:gridCol>
              </a:tblGrid>
              <a:tr h="105546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TEAM NAME</a:t>
                      </a:r>
                    </a:p>
                    <a:p>
                      <a:pPr algn="ctr"/>
                      <a:r>
                        <a:rPr lang="en-US" sz="2400" dirty="0"/>
                        <a:t>(AS SUBMITTED ON PORTAL)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AuraX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046431"/>
                  </a:ext>
                </a:extLst>
              </a:tr>
              <a:tr h="100193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PROBLEM STATEMENT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Using Generative AI 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For Attack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Prediction and Remediation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09442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AREA OF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188233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Amina Zera Rahees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Female 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Artificial Intelligence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55424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Anujaya</a:t>
                      </a:r>
                      <a:r>
                        <a:rPr lang="en-US" sz="2400" dirty="0"/>
                        <a:t> Bijay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Female 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Computer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11573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Nandana D Nair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Female 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Software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615225"/>
                  </a:ext>
                </a:extLst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Pranitha Pramod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Female 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833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52398" y="2595997"/>
            <a:ext cx="17983199" cy="6190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92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NextGen DefendX </a:t>
            </a: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 an AI-driven cybersecurity platform that detects and responds to cyber threats in real time. </a:t>
            </a:r>
          </a:p>
          <a:p>
            <a:pPr marL="342900" indent="-342900">
              <a:lnSpc>
                <a:spcPts val="49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utilizes </a:t>
            </a:r>
            <a:r>
              <a:rPr lang="en-US" sz="20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STRIDE</a:t>
            </a: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threat modelling, </a:t>
            </a:r>
            <a:r>
              <a:rPr lang="en-US" sz="20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MITRE ATT&amp;CK </a:t>
            </a: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mapping,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and</a:t>
            </a:r>
            <a:r>
              <a:rPr lang="en-US" sz="20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CVE </a:t>
            </a: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intelligence to provide actionable insights. </a:t>
            </a:r>
          </a:p>
          <a:p>
            <a:pPr marL="342900" indent="-342900">
              <a:lnSpc>
                <a:spcPts val="492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Consolidating multiple events into a unified 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attack narrative reduces  manual  investigation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and speeds up decision-making. </a:t>
            </a:r>
          </a:p>
          <a:p>
            <a:pPr>
              <a:lnSpc>
                <a:spcPts val="4920"/>
              </a:lnSpc>
            </a:pPr>
            <a:r>
              <a:rPr lang="en-US" sz="4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 </a:t>
            </a: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platform also employs Generative AI to predict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incidents, enhance threat detection , and automate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response recommendations, enabling faster and</a:t>
            </a:r>
          </a:p>
          <a:p>
            <a:pPr>
              <a:lnSpc>
                <a:spcPts val="4920"/>
              </a:lnSpc>
            </a:pPr>
            <a:r>
              <a:rPr lang="en-US" sz="20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more efficient threat management.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53201" y="1776847"/>
            <a:ext cx="9116397" cy="80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chemeClr val="accent1"/>
                </a:solidFill>
              </a:rPr>
              <a:t>NEXTGEN DEFENDX</a:t>
            </a:r>
            <a:endParaRPr lang="en-US" sz="5400" u="sng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AA3645-95EC-A757-1C3B-5DDB48DF26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" t="5098" r="2745"/>
          <a:stretch>
            <a:fillRect/>
          </a:stretch>
        </p:blipFill>
        <p:spPr>
          <a:xfrm>
            <a:off x="7543800" y="3820853"/>
            <a:ext cx="10439400" cy="5586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949A44-2E38-CA0E-D69D-42E9E51A07AE}"/>
              </a:ext>
            </a:extLst>
          </p:cNvPr>
          <p:cNvSpPr txBox="1"/>
          <p:nvPr/>
        </p:nvSpPr>
        <p:spPr>
          <a:xfrm>
            <a:off x="8118271" y="9379117"/>
            <a:ext cx="9367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Prototype Output: </a:t>
            </a:r>
            <a:r>
              <a:rPr lang="en-US" sz="2400" b="1" dirty="0"/>
              <a:t>Real-time AI-based threat detection, attack prediction,</a:t>
            </a:r>
          </a:p>
          <a:p>
            <a:r>
              <a:rPr lang="en-US" sz="2400" b="1" dirty="0"/>
              <a:t>                                and automated remediation (NextGen </a:t>
            </a:r>
            <a:r>
              <a:rPr lang="en-US" sz="2400" b="1" dirty="0" err="1"/>
              <a:t>DefendX</a:t>
            </a:r>
            <a:r>
              <a:rPr lang="en-US" sz="2400" b="1" dirty="0"/>
              <a:t>)</a:t>
            </a:r>
            <a:endParaRPr lang="en-US" sz="2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64020" y="1974068"/>
            <a:ext cx="16559961" cy="16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OUTLINE OF UNIQUE &amp; INNOVATIVE SOLUTION</a:t>
            </a:r>
          </a:p>
          <a:p>
            <a:pPr algn="ctr">
              <a:lnSpc>
                <a:spcPts val="6480"/>
              </a:lnSpc>
            </a:pPr>
            <a:endParaRPr lang="en-US" sz="5400" u="sng" dirty="0">
              <a:solidFill>
                <a:srgbClr val="4472C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3DA3C-0C53-899D-341B-CC51516930BC}"/>
              </a:ext>
            </a:extLst>
          </p:cNvPr>
          <p:cNvSpPr txBox="1"/>
          <p:nvPr/>
        </p:nvSpPr>
        <p:spPr>
          <a:xfrm>
            <a:off x="401479" y="2781300"/>
            <a:ext cx="8209121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anose="00000500000000000000" pitchFamily="2" charset="0"/>
              </a:rPr>
              <a:t>Generative AI as a Reasoning Engine</a:t>
            </a:r>
          </a:p>
          <a:p>
            <a:endParaRPr lang="en-US" sz="2000" b="1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Generative AI provides quick insights into attack contexts, clear explanations of incidents, and informed decisions on responses.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r>
              <a:rPr lang="en-US" sz="2400" b="1" dirty="0">
                <a:latin typeface="Montserrat" panose="00000500000000000000" pitchFamily="2" charset="0"/>
              </a:rPr>
              <a:t>Multi-Event Correlation into Attack Story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Rather than treating alerts individually, the system correlates multiple events over time to create a comprehensive attack narrative. 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r>
              <a:rPr lang="en-US" sz="2400" b="1" dirty="0">
                <a:latin typeface="Montserrat" panose="00000500000000000000" pitchFamily="2" charset="0"/>
              </a:rPr>
              <a:t>Predictive Threat Intelligence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The platform integrates STRIDE, MITRE ATT&amp;CK, and CVE intelligence for predictive threat analysis, helping analysts make informed decisions.</a:t>
            </a:r>
          </a:p>
          <a:p>
            <a:endParaRPr lang="en-US" sz="2000" dirty="0">
              <a:latin typeface="Montserrat" panose="00000500000000000000" pitchFamily="2" charset="0"/>
            </a:endParaRPr>
          </a:p>
          <a:p>
            <a:r>
              <a:rPr lang="en-US" sz="2400" b="1" dirty="0">
                <a:latin typeface="Montserrat" panose="00000500000000000000" pitchFamily="2" charset="0"/>
              </a:rPr>
              <a:t>AI-Driven SOC Automation</a:t>
            </a:r>
            <a:endParaRPr lang="en-US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An AI SOC Analyst automates incident analysis, assigns risk scores, and suggests remediation actions.</a:t>
            </a:r>
            <a:endParaRPr lang="en-IN" sz="2000" dirty="0">
              <a:latin typeface="Montserrat" panose="000005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42E47F-3344-DC97-4275-357C231A44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60"/>
          <a:stretch>
            <a:fillRect/>
          </a:stretch>
        </p:blipFill>
        <p:spPr>
          <a:xfrm>
            <a:off x="8610600" y="2781300"/>
            <a:ext cx="96774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364673" y="1776847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TECHNICAL APPROACH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774311-0BA7-EC63-B349-9821C9C156A1}"/>
              </a:ext>
            </a:extLst>
          </p:cNvPr>
          <p:cNvSpPr/>
          <p:nvPr/>
        </p:nvSpPr>
        <p:spPr>
          <a:xfrm>
            <a:off x="401479" y="3188312"/>
            <a:ext cx="2802927" cy="26638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0A2E5E-7CDC-032A-ADC7-E284B8ECA556}"/>
              </a:ext>
            </a:extLst>
          </p:cNvPr>
          <p:cNvSpPr/>
          <p:nvPr/>
        </p:nvSpPr>
        <p:spPr>
          <a:xfrm>
            <a:off x="3479223" y="3188311"/>
            <a:ext cx="2659747" cy="2631641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F4046E-4B1D-D445-57ED-4448D31B0B86}"/>
              </a:ext>
            </a:extLst>
          </p:cNvPr>
          <p:cNvSpPr/>
          <p:nvPr/>
        </p:nvSpPr>
        <p:spPr>
          <a:xfrm>
            <a:off x="357918" y="6202738"/>
            <a:ext cx="2846489" cy="35605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42804F-95C8-938E-BE72-E4E35AAAE4B9}"/>
              </a:ext>
            </a:extLst>
          </p:cNvPr>
          <p:cNvSpPr/>
          <p:nvPr/>
        </p:nvSpPr>
        <p:spPr>
          <a:xfrm>
            <a:off x="3552877" y="6412266"/>
            <a:ext cx="2659747" cy="33548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C30705-D75C-D161-860F-D77103FF2E6B}"/>
              </a:ext>
            </a:extLst>
          </p:cNvPr>
          <p:cNvSpPr/>
          <p:nvPr/>
        </p:nvSpPr>
        <p:spPr>
          <a:xfrm>
            <a:off x="6427910" y="6202737"/>
            <a:ext cx="2726331" cy="356056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C301D-BEE2-E9FE-4F8D-7F16622554A0}"/>
              </a:ext>
            </a:extLst>
          </p:cNvPr>
          <p:cNvSpPr/>
          <p:nvPr/>
        </p:nvSpPr>
        <p:spPr>
          <a:xfrm>
            <a:off x="6427910" y="3232129"/>
            <a:ext cx="2805637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E39FBB-B42B-55D9-3CF2-D04E3F314446}"/>
              </a:ext>
            </a:extLst>
          </p:cNvPr>
          <p:cNvSpPr txBox="1"/>
          <p:nvPr/>
        </p:nvSpPr>
        <p:spPr>
          <a:xfrm>
            <a:off x="489987" y="3349969"/>
            <a:ext cx="25823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Security Event: </a:t>
            </a:r>
            <a:r>
              <a:rPr lang="en-US" dirty="0">
                <a:latin typeface="Montserrat" panose="00000500000000000000" pitchFamily="2" charset="0"/>
              </a:rPr>
              <a:t>Captures authentication logs, API activity, and system events; serves as the primary input for threat detection.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2016C7-4E14-04B1-FBE4-0F7F11ADC60B}"/>
              </a:ext>
            </a:extLst>
          </p:cNvPr>
          <p:cNvSpPr txBox="1"/>
          <p:nvPr/>
        </p:nvSpPr>
        <p:spPr>
          <a:xfrm>
            <a:off x="3467029" y="3267077"/>
            <a:ext cx="25537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CVE / Threat </a:t>
            </a:r>
            <a:r>
              <a:rPr lang="en-IN" dirty="0">
                <a:latin typeface="Montserrat" panose="00000500000000000000" pitchFamily="2" charset="0"/>
              </a:rPr>
              <a:t>Feed Integrates real-world vulnerability data (CVE). Provides severity and threat intelligence context.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D10C17-5835-B4AC-2F25-EE956C0D7765}"/>
              </a:ext>
            </a:extLst>
          </p:cNvPr>
          <p:cNvSpPr txBox="1"/>
          <p:nvPr/>
        </p:nvSpPr>
        <p:spPr>
          <a:xfrm>
            <a:off x="6391664" y="3494813"/>
            <a:ext cx="30273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Network Activity </a:t>
            </a:r>
          </a:p>
          <a:p>
            <a:r>
              <a:rPr lang="en-IN" dirty="0">
                <a:latin typeface="Montserrat" panose="00000500000000000000" pitchFamily="2" charset="0"/>
              </a:rPr>
              <a:t>Helps detect anomalies and suspicious patterns. </a:t>
            </a:r>
            <a:r>
              <a:rPr lang="en-IN" b="1" dirty="0">
                <a:latin typeface="Montserrat" panose="00000500000000000000" pitchFamily="2" charset="0"/>
              </a:rPr>
              <a:t>FastAPI</a:t>
            </a:r>
          </a:p>
          <a:p>
            <a:r>
              <a:rPr lang="en-IN" dirty="0">
                <a:latin typeface="Montserrat" panose="00000500000000000000" pitchFamily="2" charset="0"/>
              </a:rPr>
              <a:t>Handles API requests and data processing.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842A4C-A48B-FAD6-06C9-BB399544B163}"/>
              </a:ext>
            </a:extLst>
          </p:cNvPr>
          <p:cNvSpPr txBox="1"/>
          <p:nvPr/>
        </p:nvSpPr>
        <p:spPr>
          <a:xfrm>
            <a:off x="591475" y="6377582"/>
            <a:ext cx="25423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MITRE ATT&amp;CK </a:t>
            </a:r>
            <a:r>
              <a:rPr lang="en-IN" dirty="0">
                <a:latin typeface="Montserrat" panose="00000500000000000000" pitchFamily="2" charset="0"/>
              </a:rPr>
              <a:t>Maps detected events to real-world attack techniques. </a:t>
            </a:r>
            <a:r>
              <a:rPr lang="en-IN" b="1" dirty="0">
                <a:latin typeface="Montserrat" panose="00000500000000000000" pitchFamily="2" charset="0"/>
              </a:rPr>
              <a:t>STRIDE Taxonomy </a:t>
            </a:r>
            <a:r>
              <a:rPr lang="en-IN" dirty="0">
                <a:latin typeface="Montserrat" panose="00000500000000000000" pitchFamily="2" charset="0"/>
              </a:rPr>
              <a:t>Classifies threats into structured categories.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16D518-4875-A38C-8B78-DE377C1D8969}"/>
              </a:ext>
            </a:extLst>
          </p:cNvPr>
          <p:cNvSpPr txBox="1"/>
          <p:nvPr/>
        </p:nvSpPr>
        <p:spPr>
          <a:xfrm>
            <a:off x="6449811" y="6552112"/>
            <a:ext cx="27618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Correlation Engine </a:t>
            </a:r>
            <a:r>
              <a:rPr lang="en-IN" dirty="0">
                <a:latin typeface="Montserrat" panose="00000500000000000000" pitchFamily="2" charset="0"/>
              </a:rPr>
              <a:t>Performs risk scoring and threat prioritisation. </a:t>
            </a:r>
            <a:r>
              <a:rPr lang="en-IN" b="1" dirty="0">
                <a:latin typeface="Montserrat" panose="00000500000000000000" pitchFamily="2" charset="0"/>
              </a:rPr>
              <a:t>Docker Containers </a:t>
            </a:r>
            <a:r>
              <a:rPr lang="en-IN" dirty="0">
                <a:latin typeface="Montserrat" panose="00000500000000000000" pitchFamily="2" charset="0"/>
              </a:rPr>
              <a:t>Enables scalable and cloud-ready deployment, ensures easy setup and system portability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3C859E-9C46-E080-03D9-FFE564DBC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" t="6487" r="5538" b="2576"/>
          <a:stretch>
            <a:fillRect/>
          </a:stretch>
        </p:blipFill>
        <p:spPr>
          <a:xfrm>
            <a:off x="9707921" y="2755460"/>
            <a:ext cx="8146973" cy="7402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E387C3-AF2A-477C-C95F-C69E89BA29B0}"/>
              </a:ext>
            </a:extLst>
          </p:cNvPr>
          <p:cNvSpPr txBox="1"/>
          <p:nvPr/>
        </p:nvSpPr>
        <p:spPr>
          <a:xfrm>
            <a:off x="3552877" y="6346983"/>
            <a:ext cx="2659747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>
                <a:latin typeface="Montserrat" panose="00000500000000000000" pitchFamily="2" charset="0"/>
              </a:rPr>
              <a:t>NIST NVD (CVE API)</a:t>
            </a:r>
            <a:r>
              <a:rPr lang="en-IN" dirty="0">
                <a:latin typeface="Montserrat" panose="00000500000000000000" pitchFamily="2" charset="0"/>
              </a:rPr>
              <a:t>Fetches up-to-date vulnerability data. Enhances risk assessment </a:t>
            </a:r>
            <a:r>
              <a:rPr lang="it-IT" dirty="0">
                <a:latin typeface="Montserrat" panose="00000500000000000000" pitchFamily="2" charset="0"/>
              </a:rPr>
              <a:t>accuracy. </a:t>
            </a:r>
            <a:r>
              <a:rPr lang="it-IT" b="1" dirty="0">
                <a:latin typeface="Montserrat" panose="00000500000000000000" pitchFamily="2" charset="0"/>
              </a:rPr>
              <a:t>Llama 3 via Ollama</a:t>
            </a:r>
            <a:r>
              <a:rPr lang="it-IT" dirty="0">
                <a:latin typeface="Montserrat" panose="00000500000000000000" pitchFamily="2" charset="0"/>
              </a:rPr>
              <a:t> Performs</a:t>
            </a:r>
            <a:r>
              <a:rPr lang="en-IN" dirty="0">
                <a:latin typeface="Montserrat" panose="00000500000000000000" pitchFamily="2" charset="0"/>
              </a:rPr>
              <a:t> AI reasoning and attack analysis. It generates attack explanations and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44074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609600" y="1877194"/>
            <a:ext cx="16535400" cy="819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FEASIBILITY</a:t>
            </a:r>
            <a:r>
              <a:rPr lang="en-US" sz="5400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   		&amp;		   </a:t>
            </a: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VIABILITY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C9840-98CA-EEE1-ED9A-94BD8D98DD9F}"/>
              </a:ext>
            </a:extLst>
          </p:cNvPr>
          <p:cNvSpPr txBox="1"/>
          <p:nvPr/>
        </p:nvSpPr>
        <p:spPr>
          <a:xfrm>
            <a:off x="925933" y="2969303"/>
            <a:ext cx="81395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IN" sz="2200" b="1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anose="00000500000000000000" pitchFamily="2" charset="0"/>
              </a:rPr>
              <a:t>Python &amp; FastAPI - widely adopted, proven frameworks with extensive community support and documentation</a:t>
            </a:r>
            <a:br>
              <a:rPr lang="en-US" sz="2200" dirty="0">
                <a:latin typeface="Montserrat" panose="00000500000000000000" pitchFamily="2" charset="0"/>
              </a:rPr>
            </a:br>
            <a:br>
              <a:rPr lang="en-US" sz="2200" dirty="0">
                <a:latin typeface="Montserrat" panose="00000500000000000000" pitchFamily="2" charset="0"/>
              </a:rPr>
            </a:br>
            <a:endParaRPr lang="en-IN" sz="22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D21F6-B52E-890E-9D47-ABD8BB1B2A2B}"/>
              </a:ext>
            </a:extLst>
          </p:cNvPr>
          <p:cNvSpPr txBox="1"/>
          <p:nvPr/>
        </p:nvSpPr>
        <p:spPr>
          <a:xfrm>
            <a:off x="10197101" y="2616537"/>
            <a:ext cx="792479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en-IN" sz="22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   Market Viability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Growing cybersecurity demand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Industry investment in threat platforms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Need for intelligent security systems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2200" b="0" i="0" dirty="0">
              <a:solidFill>
                <a:srgbClr val="4B5563"/>
              </a:solidFill>
              <a:effectLst/>
              <a:latin typeface="Montserrat" panose="00000500000000000000" pitchFamily="2" charset="0"/>
            </a:endParaRP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4B5563"/>
              </a:solidFill>
              <a:latin typeface="Montserrat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180D68-B7E4-3AF2-4D7A-EEF08480B4A4}"/>
              </a:ext>
            </a:extLst>
          </p:cNvPr>
          <p:cNvSpPr txBox="1"/>
          <p:nvPr/>
        </p:nvSpPr>
        <p:spPr>
          <a:xfrm>
            <a:off x="1000321" y="5298218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AI-Powered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anose="00000500000000000000" pitchFamily="2" charset="0"/>
              </a:rPr>
              <a:t>Llama3 via Ollama - enhanced threat reasoning, </a:t>
            </a:r>
          </a:p>
          <a:p>
            <a:r>
              <a:rPr lang="en-US" sz="2200" dirty="0">
                <a:latin typeface="Montserrat" panose="00000500000000000000" pitchFamily="2" charset="0"/>
              </a:rPr>
              <a:t>automated operations, and intelligent security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b="0" i="0" dirty="0">
              <a:solidFill>
                <a:srgbClr val="4B5563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28160C-C976-715F-CEE7-6AEABA34CB87}"/>
              </a:ext>
            </a:extLst>
          </p:cNvPr>
          <p:cNvSpPr txBox="1"/>
          <p:nvPr/>
        </p:nvSpPr>
        <p:spPr>
          <a:xfrm>
            <a:off x="925933" y="6976092"/>
            <a:ext cx="783706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Security Frameworks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ontserrat" panose="00000500000000000000" pitchFamily="2" charset="0"/>
              </a:rPr>
              <a:t>STRIDE &amp; MITRE ATT&amp;CK - industry-standard methodologies ensuring reliable and comprehensive security implementation</a:t>
            </a:r>
            <a:br>
              <a:rPr lang="en-US" sz="2400" dirty="0">
                <a:latin typeface="Montserrat" panose="00000500000000000000" pitchFamily="2" charset="0"/>
              </a:rPr>
            </a:br>
            <a:endParaRPr lang="en-IN" sz="2400" b="0" i="0" dirty="0">
              <a:solidFill>
                <a:srgbClr val="4B5563"/>
              </a:solidFill>
              <a:effectLst/>
              <a:latin typeface="Montserrat" panose="00000500000000000000" pitchFamily="2" charset="0"/>
            </a:endParaRPr>
          </a:p>
          <a:p>
            <a:pPr algn="l">
              <a:buNone/>
            </a:pPr>
            <a:endParaRPr lang="en-IN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6A87C4-436E-66ED-07E8-6B87E8E71CFD}"/>
              </a:ext>
            </a:extLst>
          </p:cNvPr>
          <p:cNvSpPr txBox="1"/>
          <p:nvPr/>
        </p:nvSpPr>
        <p:spPr>
          <a:xfrm>
            <a:off x="969151" y="8779667"/>
            <a:ext cx="66813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Easy Integration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0"/>
              </a:rPr>
              <a:t>Minimal infrastructure changes </a:t>
            </a: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0"/>
              </a:rPr>
              <a:t>seamless adoption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5776BAF-ADC1-91AE-B81E-FA2696A646B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6" y="3584218"/>
            <a:ext cx="511485" cy="4700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D07E37F-9A7E-3C95-6517-C577A411241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37" y="7277100"/>
            <a:ext cx="492182" cy="457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E4409B5-DEA1-5182-4E25-0B4E74344B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23" y="5586000"/>
            <a:ext cx="645459" cy="5255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57965CD-6914-4338-6780-3C0719970D3C}"/>
              </a:ext>
            </a:extLst>
          </p:cNvPr>
          <p:cNvSpPr txBox="1"/>
          <p:nvPr/>
        </p:nvSpPr>
        <p:spPr>
          <a:xfrm>
            <a:off x="10175491" y="5143500"/>
            <a:ext cx="8112505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dirty="0">
                <a:solidFill>
                  <a:srgbClr val="000000"/>
                </a:solidFill>
                <a:latin typeface="Montserrat" panose="00000500000000000000" pitchFamily="2" charset="0"/>
              </a:rPr>
              <a:t>      </a:t>
            </a: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Practical Viability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AI-accelerated response &amp; detection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Reduces analyst burden significantly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Enables better security decision-making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2200" b="0" i="0" dirty="0">
              <a:solidFill>
                <a:srgbClr val="4B5563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C1991F-F4BC-64A4-292D-8F142F9BCECC}"/>
              </a:ext>
            </a:extLst>
          </p:cNvPr>
          <p:cNvSpPr txBox="1"/>
          <p:nvPr/>
        </p:nvSpPr>
        <p:spPr>
          <a:xfrm>
            <a:off x="10363200" y="6914866"/>
            <a:ext cx="7924796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     Scalability Viability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Cross-system &amp; cloud expansion ready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Handles big data processing efficiently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200" b="0" i="0" dirty="0">
                <a:solidFill>
                  <a:srgbClr val="4B5563"/>
                </a:solidFill>
                <a:effectLst/>
                <a:latin typeface="Montserrat" panose="00000500000000000000" pitchFamily="2" charset="0"/>
              </a:rPr>
              <a:t> Future-proof architecture design</a:t>
            </a: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4B5563"/>
              </a:solidFill>
              <a:latin typeface="Montserrat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49DC4D-0461-C2D1-B2CD-00CB7646748D}"/>
              </a:ext>
            </a:extLst>
          </p:cNvPr>
          <p:cNvSpPr txBox="1"/>
          <p:nvPr/>
        </p:nvSpPr>
        <p:spPr>
          <a:xfrm>
            <a:off x="10363200" y="8887395"/>
            <a:ext cx="7924796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Montserrat" panose="00000500000000000000" pitchFamily="2" charset="0"/>
              </a:rPr>
              <a:t>      Cost Viability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5563"/>
                </a:solidFill>
                <a:latin typeface="Montserrat" panose="00000500000000000000" pitchFamily="2" charset="0"/>
              </a:rPr>
              <a:t>Strong ROI through automation</a:t>
            </a:r>
          </a:p>
          <a:p>
            <a:pPr lvl="1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B5563"/>
                </a:solidFill>
                <a:latin typeface="Montserrat" panose="00000500000000000000" pitchFamily="2" charset="0"/>
              </a:rPr>
              <a:t> Reduces long-term security spending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6CAC792-2DF7-00F7-4535-9C6962AF2903}"/>
              </a:ext>
            </a:extLst>
          </p:cNvPr>
          <p:cNvSpPr/>
          <p:nvPr/>
        </p:nvSpPr>
        <p:spPr>
          <a:xfrm>
            <a:off x="254841" y="3227001"/>
            <a:ext cx="9179250" cy="16176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6C7FD94-9CE1-5100-52F3-6054EAAD0BC5}"/>
              </a:ext>
            </a:extLst>
          </p:cNvPr>
          <p:cNvSpPr/>
          <p:nvPr/>
        </p:nvSpPr>
        <p:spPr>
          <a:xfrm>
            <a:off x="254841" y="5070933"/>
            <a:ext cx="9179250" cy="161762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6524DDC-24AF-093B-264C-C986837DE2B9}"/>
              </a:ext>
            </a:extLst>
          </p:cNvPr>
          <p:cNvSpPr/>
          <p:nvPr/>
        </p:nvSpPr>
        <p:spPr>
          <a:xfrm>
            <a:off x="254841" y="6859853"/>
            <a:ext cx="9179250" cy="16176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C0578E1-A6B9-5A54-06C6-C61A09BF193E}"/>
              </a:ext>
            </a:extLst>
          </p:cNvPr>
          <p:cNvSpPr/>
          <p:nvPr/>
        </p:nvSpPr>
        <p:spPr>
          <a:xfrm>
            <a:off x="254841" y="8669376"/>
            <a:ext cx="9179250" cy="1351663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2B58EE4-BD64-2CC3-F949-724BA7169AB4}"/>
              </a:ext>
            </a:extLst>
          </p:cNvPr>
          <p:cNvSpPr/>
          <p:nvPr/>
        </p:nvSpPr>
        <p:spPr>
          <a:xfrm>
            <a:off x="9871189" y="3175126"/>
            <a:ext cx="7988736" cy="161762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1F96A30-4497-01E1-CEA9-22A1208E0CA5}"/>
              </a:ext>
            </a:extLst>
          </p:cNvPr>
          <p:cNvSpPr/>
          <p:nvPr/>
        </p:nvSpPr>
        <p:spPr>
          <a:xfrm>
            <a:off x="9871189" y="5002364"/>
            <a:ext cx="7988736" cy="161762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7203CB0-BDBE-F8B0-CF5D-4436DF7D7A75}"/>
              </a:ext>
            </a:extLst>
          </p:cNvPr>
          <p:cNvSpPr/>
          <p:nvPr/>
        </p:nvSpPr>
        <p:spPr>
          <a:xfrm>
            <a:off x="9871189" y="6826879"/>
            <a:ext cx="7988736" cy="161762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C0E541D-6969-29AF-E8F5-D18576707216}"/>
              </a:ext>
            </a:extLst>
          </p:cNvPr>
          <p:cNvSpPr/>
          <p:nvPr/>
        </p:nvSpPr>
        <p:spPr>
          <a:xfrm>
            <a:off x="9871189" y="8588169"/>
            <a:ext cx="7988736" cy="14328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B988885-4265-2865-DD7D-7587D7A9A06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00" y="9191660"/>
            <a:ext cx="598842" cy="54033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F4E7B4F-872A-B6B0-540C-9CDFE0ECAD2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987" y="3743017"/>
            <a:ext cx="798845" cy="65846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FF485EF-0DB1-5344-C1E3-6487432325E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183" y="5574049"/>
            <a:ext cx="798845" cy="54942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9BBF3B1-A69E-5622-7C4E-879FB23E734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877" y="7148498"/>
            <a:ext cx="820645" cy="7490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3A0D840D-5B0A-30B5-1A6D-E3D46BEAD98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102" y="9137206"/>
            <a:ext cx="820644" cy="675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038600" y="1644082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IMPACT &amp; BENEFITS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Scroll: Horizontal 16">
            <a:extLst>
              <a:ext uri="{FF2B5EF4-FFF2-40B4-BE49-F238E27FC236}">
                <a16:creationId xmlns:a16="http://schemas.microsoft.com/office/drawing/2014/main" id="{7FB585CE-CA30-5394-021C-11EBCA2DF2F9}"/>
              </a:ext>
            </a:extLst>
          </p:cNvPr>
          <p:cNvSpPr/>
          <p:nvPr/>
        </p:nvSpPr>
        <p:spPr>
          <a:xfrm>
            <a:off x="685800" y="2463232"/>
            <a:ext cx="4183858" cy="3747068"/>
          </a:xfrm>
          <a:prstGeom prst="horizontalScroll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281645-B0E1-987F-01C2-BE7D8841ADE3}"/>
              </a:ext>
            </a:extLst>
          </p:cNvPr>
          <p:cNvSpPr txBox="1"/>
          <p:nvPr/>
        </p:nvSpPr>
        <p:spPr>
          <a:xfrm>
            <a:off x="1312479" y="3645515"/>
            <a:ext cx="3557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effectLst/>
                <a:latin typeface="Montserrat" panose="00000500000000000000" pitchFamily="2" charset="0"/>
              </a:rPr>
              <a:t>Proactive Cyber Defense</a:t>
            </a:r>
            <a:endParaRPr lang="en-IN" sz="2000" b="1" dirty="0">
              <a:latin typeface="Montserrat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1AFADE-7473-0C41-23DA-627795F9CEEC}"/>
              </a:ext>
            </a:extLst>
          </p:cNvPr>
          <p:cNvSpPr txBox="1"/>
          <p:nvPr/>
        </p:nvSpPr>
        <p:spPr>
          <a:xfrm>
            <a:off x="1312478" y="4107314"/>
            <a:ext cx="35571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Montserrat" panose="00000500000000000000" pitchFamily="2" charset="0"/>
              </a:rPr>
              <a:t>Shift to proactive cybersecurity using Generative AI to detect and neutralize threats early.</a:t>
            </a:r>
          </a:p>
        </p:txBody>
      </p:sp>
      <p:sp>
        <p:nvSpPr>
          <p:cNvPr id="23" name="Scroll: Horizontal 22">
            <a:extLst>
              <a:ext uri="{FF2B5EF4-FFF2-40B4-BE49-F238E27FC236}">
                <a16:creationId xmlns:a16="http://schemas.microsoft.com/office/drawing/2014/main" id="{402EF562-95D0-6AAC-425D-5D36ABA8BBE8}"/>
              </a:ext>
            </a:extLst>
          </p:cNvPr>
          <p:cNvSpPr/>
          <p:nvPr/>
        </p:nvSpPr>
        <p:spPr>
          <a:xfrm>
            <a:off x="12137011" y="6515100"/>
            <a:ext cx="4183858" cy="3747068"/>
          </a:xfrm>
          <a:prstGeom prst="horizontalScroll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Scroll: Horizontal 23">
            <a:extLst>
              <a:ext uri="{FF2B5EF4-FFF2-40B4-BE49-F238E27FC236}">
                <a16:creationId xmlns:a16="http://schemas.microsoft.com/office/drawing/2014/main" id="{4522FF02-3C09-8221-60FD-BE832BF72330}"/>
              </a:ext>
            </a:extLst>
          </p:cNvPr>
          <p:cNvSpPr/>
          <p:nvPr/>
        </p:nvSpPr>
        <p:spPr>
          <a:xfrm>
            <a:off x="12137010" y="2463232"/>
            <a:ext cx="4183858" cy="3747068"/>
          </a:xfrm>
          <a:prstGeom prst="horizontalScroll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Scroll: Horizontal 24">
            <a:extLst>
              <a:ext uri="{FF2B5EF4-FFF2-40B4-BE49-F238E27FC236}">
                <a16:creationId xmlns:a16="http://schemas.microsoft.com/office/drawing/2014/main" id="{C8AD50F7-7073-9E9B-37DF-42EDAB61ADE6}"/>
              </a:ext>
            </a:extLst>
          </p:cNvPr>
          <p:cNvSpPr/>
          <p:nvPr/>
        </p:nvSpPr>
        <p:spPr>
          <a:xfrm>
            <a:off x="6270621" y="6515100"/>
            <a:ext cx="4168777" cy="3747068"/>
          </a:xfrm>
          <a:prstGeom prst="horizontalScroll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Scroll: Horizontal 25">
            <a:extLst>
              <a:ext uri="{FF2B5EF4-FFF2-40B4-BE49-F238E27FC236}">
                <a16:creationId xmlns:a16="http://schemas.microsoft.com/office/drawing/2014/main" id="{E55A25F6-14BA-78F0-D31A-11E66AB6CA9D}"/>
              </a:ext>
            </a:extLst>
          </p:cNvPr>
          <p:cNvSpPr/>
          <p:nvPr/>
        </p:nvSpPr>
        <p:spPr>
          <a:xfrm>
            <a:off x="685798" y="6662382"/>
            <a:ext cx="4183858" cy="3599786"/>
          </a:xfrm>
          <a:prstGeom prst="horizontalScroll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Scroll: Horizontal 26">
            <a:extLst>
              <a:ext uri="{FF2B5EF4-FFF2-40B4-BE49-F238E27FC236}">
                <a16:creationId xmlns:a16="http://schemas.microsoft.com/office/drawing/2014/main" id="{B8922FD9-ADC3-F873-17EF-745FA00B6E5A}"/>
              </a:ext>
            </a:extLst>
          </p:cNvPr>
          <p:cNvSpPr/>
          <p:nvPr/>
        </p:nvSpPr>
        <p:spPr>
          <a:xfrm>
            <a:off x="6150990" y="2463232"/>
            <a:ext cx="4288409" cy="3747068"/>
          </a:xfrm>
          <a:prstGeom prst="horizontalScroll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8D604-39F2-AEEA-B371-5BBD5D88BD26}"/>
              </a:ext>
            </a:extLst>
          </p:cNvPr>
          <p:cNvSpPr txBox="1"/>
          <p:nvPr/>
        </p:nvSpPr>
        <p:spPr>
          <a:xfrm>
            <a:off x="6544500" y="3614738"/>
            <a:ext cx="3615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Montserrat" panose="00000500000000000000" pitchFamily="2" charset="0"/>
              </a:rPr>
              <a:t>Reduced Alert Fatigue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368ABC-11F5-3FC7-8061-2260201B51D9}"/>
              </a:ext>
            </a:extLst>
          </p:cNvPr>
          <p:cNvSpPr txBox="1"/>
          <p:nvPr/>
        </p:nvSpPr>
        <p:spPr>
          <a:xfrm>
            <a:off x="6662573" y="4080033"/>
            <a:ext cx="3497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Use event correlation and risk-based prioritization to reduce alert volume and focus on what matters.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0C1FC8-04E0-5296-A9C6-612C48BF2C1E}"/>
              </a:ext>
            </a:extLst>
          </p:cNvPr>
          <p:cNvSpPr txBox="1"/>
          <p:nvPr/>
        </p:nvSpPr>
        <p:spPr>
          <a:xfrm>
            <a:off x="12546458" y="3679261"/>
            <a:ext cx="3784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Montserrat" panose="00000500000000000000" pitchFamily="2" charset="0"/>
              </a:rPr>
              <a:t>Faster Incident Response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948637-647E-2DB1-6D35-D31FD1379957}"/>
              </a:ext>
            </a:extLst>
          </p:cNvPr>
          <p:cNvSpPr txBox="1"/>
          <p:nvPr/>
        </p:nvSpPr>
        <p:spPr>
          <a:xfrm>
            <a:off x="12635929" y="4107313"/>
            <a:ext cx="3605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Speed incident response using AI-driven insights and precise remediation for faster, more accurate action.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964A35-7B09-F036-390B-D6504F30CE1F}"/>
              </a:ext>
            </a:extLst>
          </p:cNvPr>
          <p:cNvSpPr txBox="1"/>
          <p:nvPr/>
        </p:nvSpPr>
        <p:spPr>
          <a:xfrm>
            <a:off x="1143001" y="7658100"/>
            <a:ext cx="3726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Montserrat" panose="00000500000000000000" pitchFamily="2" charset="0"/>
              </a:rPr>
              <a:t>Improved Threat Prioritization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F250B2-6831-A95E-7926-213ACCC0BFC2}"/>
              </a:ext>
            </a:extLst>
          </p:cNvPr>
          <p:cNvSpPr txBox="1"/>
          <p:nvPr/>
        </p:nvSpPr>
        <p:spPr>
          <a:xfrm>
            <a:off x="1123666" y="8394605"/>
            <a:ext cx="3726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Prioritize critical vulnerabilities by integrating STRIDE, MITRE ATT&amp;CK, and CVE intelligence to target real-world threats.</a:t>
            </a:r>
          </a:p>
          <a:p>
            <a:pPr algn="ctr"/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6155C8-DD6B-0093-F50C-823C26098852}"/>
              </a:ext>
            </a:extLst>
          </p:cNvPr>
          <p:cNvSpPr txBox="1"/>
          <p:nvPr/>
        </p:nvSpPr>
        <p:spPr>
          <a:xfrm>
            <a:off x="4010997" y="765890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Montserrat" panose="00000500000000000000" pitchFamily="2" charset="0"/>
              </a:rPr>
              <a:t>Enhanced Attack Visibility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DA913D-4AB1-D91F-C74C-EE620903F19A}"/>
              </a:ext>
            </a:extLst>
          </p:cNvPr>
          <p:cNvSpPr txBox="1"/>
          <p:nvPr/>
        </p:nvSpPr>
        <p:spPr>
          <a:xfrm>
            <a:off x="6528578" y="8059017"/>
            <a:ext cx="40521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0"/>
              </a:rPr>
              <a:t>Gain complete visibility into attacks with comprehensive narratives, enabling analysts to understand progression, entry points, and affected assets.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B79385-667A-D8B3-37FB-D6E2508386F2}"/>
              </a:ext>
            </a:extLst>
          </p:cNvPr>
          <p:cNvSpPr txBox="1"/>
          <p:nvPr/>
        </p:nvSpPr>
        <p:spPr>
          <a:xfrm>
            <a:off x="9866781" y="769265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Montserrat" panose="00000500000000000000" pitchFamily="2" charset="0"/>
              </a:rPr>
              <a:t>Operational Efficiency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200261-C62E-8F11-8CC2-DD740D4C2F1C}"/>
              </a:ext>
            </a:extLst>
          </p:cNvPr>
          <p:cNvSpPr txBox="1"/>
          <p:nvPr/>
        </p:nvSpPr>
        <p:spPr>
          <a:xfrm>
            <a:off x="12635929" y="8126509"/>
            <a:ext cx="36057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Montserrat" panose="00000500000000000000" pitchFamily="2" charset="0"/>
              </a:rPr>
              <a:t>Automate detection, analysis, and response to reduce manual workloads, lower costs, and maximize SOC efficiency.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03BBD4A-2F42-4049-5C58-AF056423A0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3001980"/>
            <a:ext cx="692727" cy="66173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44D239D-4DE9-6D53-8CF1-EEC82F5441C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0" y="3123961"/>
            <a:ext cx="507319" cy="53975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98F1CBA-26AB-D008-2FBB-FFD123BDD31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18" y="2994445"/>
            <a:ext cx="654294" cy="58506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19C2BF6-8331-16C2-6C71-7A23A86EC9D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792" y="7206017"/>
            <a:ext cx="626235" cy="47242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E3317E5-6028-262F-F520-853B97817D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191" y="7052243"/>
            <a:ext cx="857250" cy="61912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F6C0685-AF92-B18C-C5AD-06A2DBCA85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69967" y="7026232"/>
            <a:ext cx="818632" cy="714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5625" y="-86721"/>
            <a:ext cx="18288000" cy="1403288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05662" y="37155"/>
            <a:ext cx="3497653" cy="1222943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910042" y="397226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3165525" y="404170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379929" y="90173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357201" y="1282533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 dirty="0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590143" y="152977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451477-068C-7E55-0EB3-3D4A0E00EC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848759"/>
              </p:ext>
            </p:extLst>
          </p:nvPr>
        </p:nvGraphicFramePr>
        <p:xfrm>
          <a:off x="69858" y="1083908"/>
          <a:ext cx="18220600" cy="3929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B42579B-2E9B-6B36-E3C0-14C6F8508CFF}"/>
              </a:ext>
            </a:extLst>
          </p:cNvPr>
          <p:cNvSpPr/>
          <p:nvPr/>
        </p:nvSpPr>
        <p:spPr>
          <a:xfrm>
            <a:off x="17854676" y="1167188"/>
            <a:ext cx="433324" cy="965086"/>
          </a:xfrm>
          <a:prstGeom prst="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470A6E-E1B5-38F0-BAE0-DE3D586A71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6251" r="3600" b="29687"/>
          <a:stretch>
            <a:fillRect/>
          </a:stretch>
        </p:blipFill>
        <p:spPr>
          <a:xfrm>
            <a:off x="1279773" y="5273433"/>
            <a:ext cx="156972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2793218"/>
            <a:ext cx="18135600" cy="770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900" dirty="0"/>
              <a:t>Inc., G. (September 18, 2025). Gartner Says That in the Age of GenAI, </a:t>
            </a:r>
            <a:r>
              <a:rPr lang="en-IN" sz="1900" dirty="0" err="1"/>
              <a:t>Preemptive</a:t>
            </a:r>
            <a:r>
              <a:rPr lang="en-IN" sz="1900" dirty="0"/>
              <a:t> Capabilities, Not Detection and Response, Are the Future of Cybersecurity. Gartner. </a:t>
            </a:r>
            <a:r>
              <a:rPr lang="en-IN" sz="1900" dirty="0">
                <a:hlinkClick r:id="rId3"/>
              </a:rPr>
              <a:t>https://www.gartner.com/en/newsroom/press-releases/2025-09-18-gartner-says-that-in-the-age-of-genai-preemptive-capabilities-not-detection-and-response-are-the-future-of-cybersecurity</a:t>
            </a:r>
            <a:endParaRPr lang="en-IN" sz="1900" dirty="0"/>
          </a:p>
          <a:p>
            <a:r>
              <a:rPr lang="en-IN" sz="1900" dirty="0"/>
              <a:t>al., P. e., al., H. e., al., P. e., al., M. e., al., L. e., al., D. e., Khalil, al., A. e. &amp; al., G. e. (2025). Generative AI: a double-edged sword in the cyber threat landscape. Artificial Intelligence Review. </a:t>
            </a:r>
            <a:r>
              <a:rPr lang="en-IN" sz="1900" dirty="0">
                <a:hlinkClick r:id="rId4"/>
              </a:rPr>
              <a:t>https://doi.org/10.1007/s10462-025-11285-9</a:t>
            </a:r>
            <a:r>
              <a:rPr lang="en-IN" sz="1900" dirty="0"/>
              <a:t> </a:t>
            </a:r>
            <a:br>
              <a:rPr lang="en-IN" sz="1900" dirty="0"/>
            </a:br>
            <a:r>
              <a:rPr lang="en-IN" sz="1900" dirty="0"/>
              <a:t>Wan, S., Nikolaidis, C., Song, D., Molnar, D., Crnkovich, J., Grace, J., Bhatt, M., </a:t>
            </a:r>
            <a:r>
              <a:rPr lang="en-IN" sz="1900" dirty="0" err="1"/>
              <a:t>Chennabasappa</a:t>
            </a:r>
            <a:r>
              <a:rPr lang="en-IN" sz="1900" dirty="0"/>
              <a:t>, S., Whitman, S., Ding, S., Ionescu, V., Li, Y. &amp; Saxe, J. (2024). CYBERSECEVAL 3: Advancing the Evaluation of Cybersecurity Risks and Capabilities in Large Language Models. </a:t>
            </a:r>
            <a:r>
              <a:rPr lang="en-IN" sz="1900" dirty="0" err="1"/>
              <a:t>arXiv</a:t>
            </a:r>
            <a:r>
              <a:rPr lang="en-IN" sz="1900" dirty="0"/>
              <a:t> preprint arXiv:2408.01605. </a:t>
            </a:r>
            <a:r>
              <a:rPr lang="en-IN" sz="1900" dirty="0">
                <a:hlinkClick r:id="rId5"/>
              </a:rPr>
              <a:t>https://doi.org/10.48550/arXiv.2408.01605</a:t>
            </a:r>
            <a:br>
              <a:rPr lang="en-IN" sz="1900" dirty="0"/>
            </a:br>
            <a:r>
              <a:rPr lang="en-IN" sz="1900" dirty="0" err="1"/>
              <a:t>Orpak</a:t>
            </a:r>
            <a:r>
              <a:rPr lang="en-IN" sz="1900" dirty="0"/>
              <a:t>, K. (2025). Generative AI and Cybersecurity: Exploring Opportunities and Threats at Their Intersection. </a:t>
            </a:r>
            <a:r>
              <a:rPr lang="en-IN" sz="1900" dirty="0" err="1"/>
              <a:t>Maandblad</a:t>
            </a:r>
            <a:r>
              <a:rPr lang="en-IN" sz="1900" dirty="0"/>
              <a:t> </a:t>
            </a:r>
            <a:r>
              <a:rPr lang="en-IN" sz="1900" dirty="0" err="1"/>
              <a:t>voor</a:t>
            </a:r>
            <a:r>
              <a:rPr lang="en-IN" sz="1900" dirty="0"/>
              <a:t> Accountancy </a:t>
            </a:r>
            <a:r>
              <a:rPr lang="en-IN" sz="1900" dirty="0" err="1"/>
              <a:t>en</a:t>
            </a:r>
            <a:r>
              <a:rPr lang="en-IN" sz="1900" dirty="0"/>
              <a:t> </a:t>
            </a:r>
            <a:r>
              <a:rPr lang="en-IN" sz="1900" dirty="0" err="1"/>
              <a:t>Bedrijfseconomie</a:t>
            </a:r>
            <a:r>
              <a:rPr lang="en-IN" sz="1900" dirty="0"/>
              <a:t> 99(4), pp. 221-230. </a:t>
            </a:r>
            <a:r>
              <a:rPr lang="en-IN" sz="1900" dirty="0">
                <a:hlinkClick r:id="rId6"/>
              </a:rPr>
              <a:t>https://doi.org/10.5117/mab.99.149299</a:t>
            </a:r>
            <a:br>
              <a:rPr lang="en-IN" sz="1900" dirty="0"/>
            </a:br>
            <a:r>
              <a:rPr lang="en-IN" sz="1900" dirty="0"/>
              <a:t>(2024). Incident Command: AI Powered Next-Gen SIEM. Rapid7. https://www.rapid7.com/products/insightidr/features/deception-technology/</a:t>
            </a:r>
            <a:br>
              <a:rPr lang="en-IN" sz="1900" dirty="0"/>
            </a:br>
            <a:r>
              <a:rPr lang="en-IN" sz="1900" dirty="0"/>
              <a:t>(2023). Log Generation - an overview. ScienceDirect Topics. </a:t>
            </a:r>
            <a:r>
              <a:rPr lang="en-IN" sz="1900" dirty="0">
                <a:hlinkClick r:id="rId7"/>
              </a:rPr>
              <a:t>https://www.sciencedirect.com/topics/computer-science/log-generation</a:t>
            </a:r>
            <a:br>
              <a:rPr lang="en-IN" sz="1900" dirty="0"/>
            </a:br>
            <a:r>
              <a:rPr lang="en-IN" sz="1900" dirty="0"/>
              <a:t>(March 24, 2026). Cybersecurity's new race: Finding the CrowdStrike or Wiz of AI security. Axios. </a:t>
            </a:r>
            <a:r>
              <a:rPr lang="en-IN" sz="1900" dirty="0">
                <a:hlinkClick r:id="rId8"/>
              </a:rPr>
              <a:t>https://www.axios.com/2026/03/24/cybersecuritys-new-race-finding-the-crowdstrike-or-wiz-of-ai-security</a:t>
            </a:r>
            <a:br>
              <a:rPr lang="en-IN" sz="1900" dirty="0"/>
            </a:br>
            <a:r>
              <a:rPr lang="en-IN" sz="1900" dirty="0"/>
              <a:t>(n.d.). Threat Intelligence Platforms Market Size, Share &amp;amp; 2030 Growth Trends Report. </a:t>
            </a:r>
            <a:r>
              <a:rPr lang="en-IN" sz="1900" dirty="0">
                <a:hlinkClick r:id="rId9"/>
              </a:rPr>
              <a:t>https://www.mordorintelligence.com/industry-reports/threat-intelligence-platforms-market</a:t>
            </a:r>
            <a:br>
              <a:rPr lang="en-IN" sz="1900" dirty="0"/>
            </a:br>
            <a:r>
              <a:rPr lang="en-IN" sz="1900" dirty="0"/>
              <a:t>Simon, R. (2025). AI-Powered Threat Intelligence: Predicting Cyberattacks Before They Happen. IBM. </a:t>
            </a:r>
            <a:r>
              <a:rPr lang="en-IN" sz="1900" dirty="0">
                <a:hlinkClick r:id="rId10"/>
              </a:rPr>
              <a:t>https://www.ibm.com/new/product-blog/ai-powered-threat-intelligence-predicting-cyber-attacks-before-they-happen</a:t>
            </a:r>
            <a:br>
              <a:rPr lang="en-IN" sz="1900" dirty="0"/>
            </a:br>
            <a:r>
              <a:rPr lang="en-IN" sz="1900" dirty="0"/>
              <a:t>Das, B. C., </a:t>
            </a:r>
            <a:r>
              <a:rPr lang="en-IN" sz="1900" dirty="0" err="1"/>
              <a:t>Sartaz</a:t>
            </a:r>
            <a:r>
              <a:rPr lang="en-IN" sz="1900" dirty="0"/>
              <a:t>, M. S., Reza, S. A., Hossain, A., Nasiruddin, M., Bishnu, K. K., Sultana, K. S., </a:t>
            </a:r>
            <a:r>
              <a:rPr lang="en-IN" sz="1900" dirty="0" err="1"/>
              <a:t>Shatyi</a:t>
            </a:r>
            <a:r>
              <a:rPr lang="en-IN" sz="1900" dirty="0"/>
              <a:t>, S. S., Khan, M. A. &amp; Abed, J. (2025). AI-Driven Cybersecurity Threat Detection: Building Resilient Defense Systems Using Predictive Analytics. </a:t>
            </a:r>
            <a:r>
              <a:rPr lang="en-IN" sz="1900" dirty="0" err="1"/>
              <a:t>arXiv</a:t>
            </a:r>
            <a:r>
              <a:rPr lang="en-IN" sz="1900" dirty="0"/>
              <a:t> preprint. </a:t>
            </a:r>
            <a:r>
              <a:rPr lang="en-IN" sz="1900" dirty="0">
                <a:hlinkClick r:id="rId11"/>
              </a:rPr>
              <a:t>https://doi.org/10.48550/arXiv.2508.01422</a:t>
            </a:r>
            <a:br>
              <a:rPr lang="en-IN" sz="1900" dirty="0"/>
            </a:br>
            <a:r>
              <a:rPr lang="en-IN" sz="1900" dirty="0"/>
              <a:t>Sullivan, F. &amp;. (February 16, 2026). Modern SIEM Market to Reach $13.55 Billion by 2029, Driven by AI, Cloud-Native Platforms, and Rising Cyber Threats. PR Newswire.</a:t>
            </a:r>
            <a:br>
              <a:rPr lang="en-IN" sz="1900" dirty="0"/>
            </a:br>
            <a:r>
              <a:rPr lang="en-IN" sz="1900" dirty="0">
                <a:hlinkClick r:id="rId12"/>
              </a:rPr>
              <a:t>https://www.prnewswire.com/news-releases/modern-siem-market-to-reach-13-55-billion-by-2029--driven-by-ai-cloud-native-platforms-and-rising-cyber-threats-302688812.html</a:t>
            </a:r>
            <a:br>
              <a:rPr lang="en-IN" sz="1900" dirty="0"/>
            </a:br>
            <a:r>
              <a:rPr lang="en-IN" sz="1900" dirty="0"/>
              <a:t>(2024). IT Security Economics 2024. Kaspersky. </a:t>
            </a:r>
            <a:r>
              <a:rPr lang="en-IN" sz="1900" dirty="0">
                <a:hlinkClick r:id="rId13"/>
              </a:rPr>
              <a:t>https://www.kaspersky.com/blog/it-security-economics-2024/</a:t>
            </a:r>
            <a:endParaRPr lang="en-IN" sz="1900" dirty="0"/>
          </a:p>
          <a:p>
            <a:endParaRPr lang="en-IN" sz="1900" dirty="0">
              <a:effectLst/>
            </a:endParaRPr>
          </a:p>
          <a:p>
            <a:endParaRPr lang="en-IN" sz="1900" dirty="0"/>
          </a:p>
          <a:p>
            <a:r>
              <a:rPr lang="en-IN" sz="3200" b="1" dirty="0">
                <a:effectLst/>
              </a:rPr>
              <a:t>Google drive link to our idea</a:t>
            </a:r>
            <a:r>
              <a:rPr lang="en-IN" sz="3200" b="1">
                <a:effectLst/>
              </a:rPr>
              <a:t>: </a:t>
            </a:r>
            <a:r>
              <a:rPr lang="en-IN" sz="3200" b="1">
                <a:hlinkClick r:id="rId14"/>
              </a:rPr>
              <a:t>https://docs.google.com/document/d/1-4L9qZv8BqVGHFtIryc64sBkpEs9NpSOIsQ7T1bQIq4/edit?usp=sharing</a:t>
            </a:r>
            <a:r>
              <a:rPr lang="en-IN" sz="3200" b="1"/>
              <a:t> </a:t>
            </a:r>
            <a:endParaRPr lang="en-IN" sz="3200" b="1" dirty="0">
              <a:effectLst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6230" t="-89762" r="-26367" b="-15679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3932385" y="1974068"/>
            <a:ext cx="10423229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3633" t="-14434" r="-13983" b="-14081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1405</Words>
  <Application>Microsoft Office PowerPoint</Application>
  <PresentationFormat>Custom</PresentationFormat>
  <Paragraphs>132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League Spartan</vt:lpstr>
      <vt:lpstr>Montserrat Bold</vt:lpstr>
      <vt:lpstr>Arial</vt:lpstr>
      <vt:lpstr>Montserrat</vt:lpstr>
      <vt:lpstr>TT Interphases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TITLE</dc:title>
  <dc:creator>Nandana D Nair</dc:creator>
  <cp:lastModifiedBy>Pranitha Pramod</cp:lastModifiedBy>
  <cp:revision>27</cp:revision>
  <dcterms:created xsi:type="dcterms:W3CDTF">2006-08-16T00:00:00Z</dcterms:created>
  <dcterms:modified xsi:type="dcterms:W3CDTF">2026-03-29T18:12:12Z</dcterms:modified>
  <dc:identifier>DAHCOoBRAO4</dc:identifier>
</cp:coreProperties>
</file>